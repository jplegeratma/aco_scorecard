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5620"/>
    <p:restoredTop sz="94660"/>
  </p:normalViewPr>
  <p:slideViewPr>
    <p:cSldViewPr>
      <p:cViewPr>
        <p:scale>
          <a:sx n="100" d="100"/>
          <a:sy n="100" d="100"/>
        </p:scale>
        <p:origin x="-636" y="-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64676459"/>
              </p:ext>
            </p:extLst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4" name="Rectangle 1026"/>
          <p:cNvSpPr>
            <a:spLocks noGrp="1" noChangeArrowheads="1"/>
          </p:cNvSpPr>
          <p:nvPr>
            <p:ph type="ctrTitle"/>
          </p:nvPr>
        </p:nvSpPr>
        <p:spPr bwMode="auto">
          <a:xfrm>
            <a:off x="2693796" y="2648241"/>
            <a:ext cx="5539245" cy="50783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3300" b="0" baseline="0">
                <a:latin typeface="+mj-lt"/>
                <a:ea typeface="+mj-ea"/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93796" y="3770660"/>
            <a:ext cx="5539245" cy="219820"/>
          </a:xfrm>
        </p:spPr>
        <p:txBody>
          <a:bodyPr>
            <a:spAutoFit/>
          </a:bodyPr>
          <a:lstStyle>
            <a:lvl1pPr>
              <a:defRPr sz="1400" baseline="0">
                <a:latin typeface="+mn-lt"/>
                <a:ea typeface="+mn-ea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12" name="TitleTopPlaceholder"/>
          <p:cNvSpPr>
            <a:spLocks noChangeArrowheads="1"/>
          </p:cNvSpPr>
          <p:nvPr/>
        </p:nvSpPr>
        <p:spPr bwMode="ltGray">
          <a:xfrm>
            <a:off x="2125654" y="3245969"/>
            <a:ext cx="2125653" cy="436455"/>
          </a:xfrm>
          <a:prstGeom prst="rect">
            <a:avLst/>
          </a:prstGeom>
          <a:solidFill>
            <a:schemeClr val="accent4">
              <a:alpha val="77000"/>
            </a:schemeClr>
          </a:solidFill>
          <a:ln w="9525">
            <a:noFill/>
            <a:miter lim="800000"/>
            <a:headEnd/>
            <a:tailEnd/>
          </a:ln>
          <a:effectLst/>
          <a:ex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3" name="TitleTopPlaceholder"/>
          <p:cNvSpPr>
            <a:spLocks noChangeArrowheads="1"/>
          </p:cNvSpPr>
          <p:nvPr/>
        </p:nvSpPr>
        <p:spPr bwMode="ltGray">
          <a:xfrm>
            <a:off x="1" y="3245968"/>
            <a:ext cx="2125653" cy="436455"/>
          </a:xfrm>
          <a:prstGeom prst="rect">
            <a:avLst/>
          </a:prstGeom>
          <a:solidFill>
            <a:srgbClr val="FFC000">
              <a:alpha val="80000"/>
            </a:srgbClr>
          </a:solidFill>
          <a:ln w="9525">
            <a:noFill/>
            <a:miter lim="800000"/>
            <a:headEnd/>
            <a:tailEnd/>
          </a:ln>
          <a:effectLst/>
          <a:ex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4" name="TitleTopPlaceholder"/>
          <p:cNvSpPr>
            <a:spLocks noChangeArrowheads="1"/>
          </p:cNvSpPr>
          <p:nvPr/>
        </p:nvSpPr>
        <p:spPr bwMode="ltGray">
          <a:xfrm>
            <a:off x="3886006" y="3246844"/>
            <a:ext cx="5257994" cy="436455"/>
          </a:xfrm>
          <a:prstGeom prst="rect">
            <a:avLst/>
          </a:prstGeom>
          <a:solidFill>
            <a:srgbClr val="009900">
              <a:alpha val="69000"/>
            </a:srgbClr>
          </a:solidFill>
          <a:ln w="9525">
            <a:noFill/>
            <a:miter lim="800000"/>
            <a:headEnd/>
            <a:tailEnd/>
          </a:ln>
          <a:effectLst/>
          <a:ex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15" name="Picture 4" descr="http://upload.wikimedia.org/wikipedia/commons/thumb/8/82/Seal_of_Massachusetts.svg/2000px-Seal_of_Massachusetts.svg.png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67" y="2029603"/>
            <a:ext cx="2075338" cy="207521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0922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40597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2373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6593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1089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07088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C75A07FB-223A-4C4A-B048-12528E03F0A9}" type="datetimeFigureOut">
              <a:rPr lang="en-US">
                <a:solidFill>
                  <a:srgbClr val="000000"/>
                </a:solidFill>
              </a:rPr>
              <a:pPr defTabSz="457200"/>
              <a:t>8/22/2018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A6ABBA78-1546-497E-B19E-525732991705}" type="slidenum">
              <a:rPr lang="en-US">
                <a:solidFill>
                  <a:srgbClr val="000000"/>
                </a:solidFill>
              </a:rPr>
              <a:pPr defTabSz="457200"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68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tags" Target="../tags/tag4.xml"/><Relationship Id="rId18" Type="http://schemas.openxmlformats.org/officeDocument/2006/relationships/tags" Target="../tags/tag9.xml"/><Relationship Id="rId26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2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3.xml"/><Relationship Id="rId17" Type="http://schemas.openxmlformats.org/officeDocument/2006/relationships/tags" Target="../tags/tag8.xml"/><Relationship Id="rId25" Type="http://schemas.openxmlformats.org/officeDocument/2006/relationships/tags" Target="../tags/tag1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7.xml"/><Relationship Id="rId20" Type="http://schemas.openxmlformats.org/officeDocument/2006/relationships/tags" Target="../tags/tag1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24" Type="http://schemas.openxmlformats.org/officeDocument/2006/relationships/tags" Target="../tags/tag15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6.xml"/><Relationship Id="rId23" Type="http://schemas.openxmlformats.org/officeDocument/2006/relationships/tags" Target="../tags/tag14.xml"/><Relationship Id="rId28" Type="http://schemas.openxmlformats.org/officeDocument/2006/relationships/image" Target="../media/image2.png"/><Relationship Id="rId10" Type="http://schemas.openxmlformats.org/officeDocument/2006/relationships/tags" Target="../tags/tag1.xml"/><Relationship Id="rId19" Type="http://schemas.openxmlformats.org/officeDocument/2006/relationships/tags" Target="../tags/tag10.xml"/><Relationship Id="rId4" Type="http://schemas.openxmlformats.org/officeDocument/2006/relationships/slideLayout" Target="../slideLayouts/slideLayout4.xml"/><Relationship Id="rId9" Type="http://schemas.openxmlformats.org/officeDocument/2006/relationships/vmlDrawing" Target="../drawings/vmlDrawing1.vml"/><Relationship Id="rId14" Type="http://schemas.openxmlformats.org/officeDocument/2006/relationships/tags" Target="../tags/tag5.xml"/><Relationship Id="rId22" Type="http://schemas.openxmlformats.org/officeDocument/2006/relationships/tags" Target="../tags/tag13.xml"/><Relationship Id="rId2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4158665000"/>
              </p:ext>
            </p:extLst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think-cell Slide" r:id="rId26" imgW="270" imgH="270" progId="TCLayout.ActiveDocument.1">
                  <p:embed/>
                </p:oleObj>
              </mc:Choice>
              <mc:Fallback>
                <p:oleObj name="think-cell Slide" r:id="rId2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Group 57"/>
          <p:cNvGrpSpPr/>
          <p:nvPr userDrawn="1"/>
        </p:nvGrpSpPr>
        <p:grpSpPr bwMode="ltGray">
          <a:xfrm>
            <a:off x="2" y="6565687"/>
            <a:ext cx="9143999" cy="292313"/>
            <a:chOff x="-476250" y="1078229"/>
            <a:chExt cx="9437688" cy="475297"/>
          </a:xfrm>
        </p:grpSpPr>
        <p:sp>
          <p:nvSpPr>
            <p:cNvPr id="59" name="TitleTopPlaceholder"/>
            <p:cNvSpPr>
              <a:spLocks noChangeArrowheads="1"/>
            </p:cNvSpPr>
            <p:nvPr/>
          </p:nvSpPr>
          <p:spPr bwMode="ltGray">
            <a:xfrm>
              <a:off x="1717675" y="1078230"/>
              <a:ext cx="2193925" cy="474345"/>
            </a:xfrm>
            <a:prstGeom prst="rect">
              <a:avLst/>
            </a:prstGeom>
            <a:solidFill>
              <a:schemeClr val="accent4">
                <a:alpha val="77000"/>
              </a:schemeClr>
            </a:solidFill>
            <a:ln w="9525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</a:endParaRPr>
            </a:p>
          </p:txBody>
        </p:sp>
        <p:sp>
          <p:nvSpPr>
            <p:cNvPr id="60" name="TitleTopPlaceholder"/>
            <p:cNvSpPr>
              <a:spLocks noChangeArrowheads="1"/>
            </p:cNvSpPr>
            <p:nvPr/>
          </p:nvSpPr>
          <p:spPr bwMode="ltGray">
            <a:xfrm>
              <a:off x="-476250" y="1078229"/>
              <a:ext cx="2193925" cy="474345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 w="9525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</a:endParaRPr>
            </a:p>
          </p:txBody>
        </p:sp>
        <p:sp>
          <p:nvSpPr>
            <p:cNvPr id="61" name="TitleTopPlaceholder"/>
            <p:cNvSpPr>
              <a:spLocks noChangeArrowheads="1"/>
            </p:cNvSpPr>
            <p:nvPr/>
          </p:nvSpPr>
          <p:spPr bwMode="ltGray">
            <a:xfrm>
              <a:off x="3534567" y="1079181"/>
              <a:ext cx="5426871" cy="474345"/>
            </a:xfrm>
            <a:prstGeom prst="rect">
              <a:avLst/>
            </a:prstGeom>
            <a:solidFill>
              <a:srgbClr val="009900">
                <a:alpha val="69000"/>
              </a:srgbClr>
            </a:solidFill>
            <a:ln w="9525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036" name="Rectangle 28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82156" y="1990667"/>
            <a:ext cx="4389768" cy="12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174945" y="234863"/>
            <a:ext cx="8053675" cy="298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0" name="1. On-page tracker" hidden="1"/>
          <p:cNvSpPr>
            <a:spLocks noChangeArrowheads="1"/>
          </p:cNvSpPr>
          <p:nvPr/>
        </p:nvSpPr>
        <p:spPr bwMode="auto">
          <a:xfrm>
            <a:off x="174944" y="27536"/>
            <a:ext cx="876714" cy="21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808080"/>
                </a:solidFill>
              </a:rPr>
              <a:t>TRACKER</a:t>
            </a:r>
          </a:p>
        </p:txBody>
      </p:sp>
      <p:sp>
        <p:nvSpPr>
          <p:cNvPr id="11" name="3. Unit of measure" hidden="1"/>
          <p:cNvSpPr txBox="1">
            <a:spLocks noChangeArrowheads="1"/>
          </p:cNvSpPr>
          <p:nvPr/>
        </p:nvSpPr>
        <p:spPr bwMode="auto">
          <a:xfrm>
            <a:off x="174944" y="542617"/>
            <a:ext cx="8053675" cy="25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808080"/>
                </a:solidFill>
                <a:latin typeface="Arial"/>
              </a:rPr>
              <a:t>Unit of measure</a:t>
            </a:r>
          </a:p>
        </p:txBody>
      </p:sp>
      <p:grpSp>
        <p:nvGrpSpPr>
          <p:cNvPr id="12" name="Slide Elements" hidden="1"/>
          <p:cNvGrpSpPr>
            <a:grpSpLocks/>
          </p:cNvGrpSpPr>
          <p:nvPr/>
        </p:nvGrpSpPr>
        <p:grpSpPr bwMode="auto">
          <a:xfrm>
            <a:off x="174944" y="6086391"/>
            <a:ext cx="8799129" cy="413035"/>
            <a:chOff x="75" y="3895"/>
            <a:chExt cx="689" cy="255"/>
          </a:xfrm>
        </p:grpSpPr>
        <p:sp>
          <p:nvSpPr>
            <p:cNvPr id="13" name="4. Footnote"/>
            <p:cNvSpPr txBox="1">
              <a:spLocks noChangeArrowheads="1"/>
            </p:cNvSpPr>
            <p:nvPr/>
          </p:nvSpPr>
          <p:spPr bwMode="auto">
            <a:xfrm>
              <a:off x="75" y="3895"/>
              <a:ext cx="689" cy="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 dirty="0">
                  <a:solidFill>
                    <a:srgbClr val="000000"/>
                  </a:solidFill>
                  <a:latin typeface="Arial"/>
                </a:rPr>
                <a:t>1 Footnote</a:t>
              </a:r>
            </a:p>
          </p:txBody>
        </p:sp>
        <p:sp>
          <p:nvSpPr>
            <p:cNvPr id="14" name="5. Source"/>
            <p:cNvSpPr>
              <a:spLocks noChangeArrowheads="1"/>
            </p:cNvSpPr>
            <p:nvPr/>
          </p:nvSpPr>
          <p:spPr bwMode="auto">
            <a:xfrm>
              <a:off x="75" y="4053"/>
              <a:ext cx="689" cy="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621910" indent="-621910" defTabSz="913429" fontAlgn="base">
                <a:spcBef>
                  <a:spcPct val="0"/>
                </a:spcBef>
                <a:spcAft>
                  <a:spcPct val="0"/>
                </a:spcAft>
                <a:tabLst>
                  <a:tab pos="625148" algn="l"/>
                </a:tabLst>
              </a:pPr>
              <a:r>
                <a:rPr lang="en-US" sz="1000" dirty="0">
                  <a:solidFill>
                    <a:srgbClr val="000000"/>
                  </a:solidFill>
                </a:rPr>
                <a:t>SOURCE: Source</a:t>
              </a:r>
            </a:p>
          </p:txBody>
        </p:sp>
      </p:grpSp>
      <p:grpSp>
        <p:nvGrpSpPr>
          <p:cNvPr id="15" name="ACET" hidden="1"/>
          <p:cNvGrpSpPr>
            <a:grpSpLocks/>
          </p:cNvGrpSpPr>
          <p:nvPr/>
        </p:nvGrpSpPr>
        <p:grpSpPr bwMode="auto">
          <a:xfrm>
            <a:off x="1482156" y="1150019"/>
            <a:ext cx="4350892" cy="518318"/>
            <a:chOff x="915" y="710"/>
            <a:chExt cx="2686" cy="320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solidFill>
                    <a:srgbClr val="000000"/>
                  </a:solidFill>
                </a:rPr>
                <a:t>Title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808080"/>
                  </a:solidFill>
                </a:rPr>
                <a:t>Unit of measure</a:t>
              </a:r>
            </a:p>
          </p:txBody>
        </p:sp>
      </p:grpSp>
      <p:grpSp>
        <p:nvGrpSpPr>
          <p:cNvPr id="63" name="LegendBoxes" hidden="1"/>
          <p:cNvGrpSpPr>
            <a:grpSpLocks/>
          </p:cNvGrpSpPr>
          <p:nvPr/>
        </p:nvGrpSpPr>
        <p:grpSpPr bwMode="auto">
          <a:xfrm>
            <a:off x="7449476" y="275439"/>
            <a:ext cx="779144" cy="1017201"/>
            <a:chOff x="4936" y="176"/>
            <a:chExt cx="481" cy="628"/>
          </a:xfrm>
        </p:grpSpPr>
        <p:sp>
          <p:nvSpPr>
            <p:cNvPr id="64" name="Legend1"/>
            <p:cNvSpPr>
              <a:spLocks noChangeArrowheads="1"/>
            </p:cNvSpPr>
            <p:nvPr/>
          </p:nvSpPr>
          <p:spPr bwMode="auto">
            <a:xfrm>
              <a:off x="5096" y="17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5" name="LegendRectangle1"/>
            <p:cNvSpPr>
              <a:spLocks noChangeArrowheads="1"/>
            </p:cNvSpPr>
            <p:nvPr/>
          </p:nvSpPr>
          <p:spPr bwMode="auto">
            <a:xfrm>
              <a:off x="4936" y="183"/>
              <a:ext cx="104" cy="10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 dirty="0">
                <a:solidFill>
                  <a:srgbClr val="000000"/>
                </a:solidFill>
              </a:endParaRPr>
            </a:p>
          </p:txBody>
        </p:sp>
        <p:sp>
          <p:nvSpPr>
            <p:cNvPr id="66" name="Legend2"/>
            <p:cNvSpPr>
              <a:spLocks noChangeArrowheads="1"/>
            </p:cNvSpPr>
            <p:nvPr/>
          </p:nvSpPr>
          <p:spPr bwMode="auto">
            <a:xfrm>
              <a:off x="5096" y="34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7" name="LegendRectangle2"/>
            <p:cNvSpPr>
              <a:spLocks noChangeArrowheads="1"/>
            </p:cNvSpPr>
            <p:nvPr/>
          </p:nvSpPr>
          <p:spPr bwMode="auto">
            <a:xfrm>
              <a:off x="4936" y="353"/>
              <a:ext cx="104" cy="10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 dirty="0">
                <a:solidFill>
                  <a:srgbClr val="000000"/>
                </a:solidFill>
              </a:endParaRPr>
            </a:p>
          </p:txBody>
        </p:sp>
        <p:sp>
          <p:nvSpPr>
            <p:cNvPr id="68" name="Legend3"/>
            <p:cNvSpPr>
              <a:spLocks noChangeArrowheads="1"/>
            </p:cNvSpPr>
            <p:nvPr/>
          </p:nvSpPr>
          <p:spPr bwMode="auto">
            <a:xfrm>
              <a:off x="5096" y="517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9" name="LegendRectangle3"/>
            <p:cNvSpPr>
              <a:spLocks noChangeArrowheads="1"/>
            </p:cNvSpPr>
            <p:nvPr/>
          </p:nvSpPr>
          <p:spPr bwMode="auto">
            <a:xfrm>
              <a:off x="4936" y="524"/>
              <a:ext cx="104" cy="101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 dirty="0">
                <a:solidFill>
                  <a:srgbClr val="000000"/>
                </a:solidFill>
              </a:endParaRPr>
            </a:p>
          </p:txBody>
        </p:sp>
        <p:sp>
          <p:nvSpPr>
            <p:cNvPr id="70" name="Legend4"/>
            <p:cNvSpPr>
              <a:spLocks noChangeArrowheads="1"/>
            </p:cNvSpPr>
            <p:nvPr/>
          </p:nvSpPr>
          <p:spPr bwMode="auto">
            <a:xfrm>
              <a:off x="5096" y="688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1" name="LegendRectangle4"/>
            <p:cNvSpPr>
              <a:spLocks noChangeArrowheads="1"/>
            </p:cNvSpPr>
            <p:nvPr/>
          </p:nvSpPr>
          <p:spPr bwMode="auto">
            <a:xfrm>
              <a:off x="4936" y="695"/>
              <a:ext cx="104" cy="101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72" name="LegendLines" hidden="1"/>
          <p:cNvGrpSpPr>
            <a:grpSpLocks/>
          </p:cNvGrpSpPr>
          <p:nvPr/>
        </p:nvGrpSpPr>
        <p:grpSpPr bwMode="auto">
          <a:xfrm>
            <a:off x="7135228" y="275439"/>
            <a:ext cx="1093393" cy="745084"/>
            <a:chOff x="4750" y="176"/>
            <a:chExt cx="675" cy="460"/>
          </a:xfrm>
        </p:grpSpPr>
        <p:sp>
          <p:nvSpPr>
            <p:cNvPr id="73" name="LineLegend1"/>
            <p:cNvSpPr>
              <a:spLocks noChangeShapeType="1"/>
            </p:cNvSpPr>
            <p:nvPr/>
          </p:nvSpPr>
          <p:spPr bwMode="auto">
            <a:xfrm>
              <a:off x="4750" y="233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 dirty="0">
                <a:solidFill>
                  <a:srgbClr val="000000"/>
                </a:solidFill>
              </a:endParaRPr>
            </a:p>
          </p:txBody>
        </p:sp>
        <p:sp>
          <p:nvSpPr>
            <p:cNvPr id="74" name="LineLegend2"/>
            <p:cNvSpPr>
              <a:spLocks noChangeShapeType="1"/>
            </p:cNvSpPr>
            <p:nvPr/>
          </p:nvSpPr>
          <p:spPr bwMode="auto">
            <a:xfrm>
              <a:off x="4750" y="402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 dirty="0">
                <a:solidFill>
                  <a:srgbClr val="000000"/>
                </a:solidFill>
              </a:endParaRPr>
            </a:p>
          </p:txBody>
        </p:sp>
        <p:sp>
          <p:nvSpPr>
            <p:cNvPr id="75" name="LineLegend3"/>
            <p:cNvSpPr>
              <a:spLocks noChangeShapeType="1"/>
            </p:cNvSpPr>
            <p:nvPr/>
          </p:nvSpPr>
          <p:spPr bwMode="auto">
            <a:xfrm>
              <a:off x="4750" y="577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 dirty="0">
                <a:solidFill>
                  <a:srgbClr val="000000"/>
                </a:solidFill>
              </a:endParaRPr>
            </a:p>
          </p:txBody>
        </p:sp>
        <p:sp>
          <p:nvSpPr>
            <p:cNvPr id="76" name="Legend1"/>
            <p:cNvSpPr>
              <a:spLocks noChangeArrowheads="1"/>
            </p:cNvSpPr>
            <p:nvPr/>
          </p:nvSpPr>
          <p:spPr bwMode="auto">
            <a:xfrm>
              <a:off x="5104" y="17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7" name="Legend2"/>
            <p:cNvSpPr>
              <a:spLocks noChangeArrowheads="1"/>
            </p:cNvSpPr>
            <p:nvPr/>
          </p:nvSpPr>
          <p:spPr bwMode="auto">
            <a:xfrm>
              <a:off x="5104" y="344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8" name="Legend3"/>
            <p:cNvSpPr>
              <a:spLocks noChangeArrowheads="1"/>
            </p:cNvSpPr>
            <p:nvPr/>
          </p:nvSpPr>
          <p:spPr bwMode="auto">
            <a:xfrm>
              <a:off x="5104" y="520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</p:grpSp>
      <p:grpSp>
        <p:nvGrpSpPr>
          <p:cNvPr id="79" name="Sticker" hidden="1"/>
          <p:cNvGrpSpPr/>
          <p:nvPr/>
        </p:nvGrpSpPr>
        <p:grpSpPr bwMode="auto">
          <a:xfrm>
            <a:off x="7139991" y="275438"/>
            <a:ext cx="1088630" cy="216680"/>
            <a:chOff x="7673880" y="285750"/>
            <a:chExt cx="1066895" cy="212366"/>
          </a:xfrm>
        </p:grpSpPr>
        <p:sp>
          <p:nvSpPr>
            <p:cNvPr id="80" name="StickerRectangle"/>
            <p:cNvSpPr>
              <a:spLocks noChangeArrowheads="1"/>
            </p:cNvSpPr>
            <p:nvPr/>
          </p:nvSpPr>
          <p:spPr bwMode="auto">
            <a:xfrm>
              <a:off x="7673880" y="285750"/>
              <a:ext cx="1066895" cy="2123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808080"/>
                  </a:solidFill>
                </a:rPr>
                <a:t>PRELIMINARY</a:t>
              </a:r>
            </a:p>
          </p:txBody>
        </p:sp>
        <p:cxnSp>
          <p:nvCxnSpPr>
            <p:cNvPr id="81" name="AutoShape 31"/>
            <p:cNvCxnSpPr>
              <a:cxnSpLocks noChangeShapeType="1"/>
              <a:stCxn id="80" idx="2"/>
              <a:endCxn id="80" idx="4"/>
            </p:cNvCxnSpPr>
            <p:nvPr/>
          </p:nvCxnSpPr>
          <p:spPr bwMode="auto">
            <a:xfrm>
              <a:off x="7673880" y="285750"/>
              <a:ext cx="0" cy="212366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AutoShape 32"/>
            <p:cNvCxnSpPr>
              <a:cxnSpLocks noChangeShapeType="1"/>
              <a:stCxn id="80" idx="4"/>
              <a:endCxn id="80" idx="6"/>
            </p:cNvCxnSpPr>
            <p:nvPr/>
          </p:nvCxnSpPr>
          <p:spPr bwMode="auto">
            <a:xfrm>
              <a:off x="7673880" y="498116"/>
              <a:ext cx="1066895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3" name="LegendMoons" hidden="1"/>
          <p:cNvGrpSpPr/>
          <p:nvPr/>
        </p:nvGrpSpPr>
        <p:grpSpPr bwMode="auto">
          <a:xfrm>
            <a:off x="7381273" y="275438"/>
            <a:ext cx="847347" cy="1333054"/>
            <a:chOff x="6655594" y="273840"/>
            <a:chExt cx="830430" cy="1306516"/>
          </a:xfrm>
        </p:grpSpPr>
        <p:grpSp>
          <p:nvGrpSpPr>
            <p:cNvPr id="84" name="MoonLegend1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6655594" y="273840"/>
              <a:ext cx="209550" cy="209551"/>
              <a:chOff x="4533" y="183"/>
              <a:chExt cx="144" cy="144"/>
            </a:xfrm>
          </p:grpSpPr>
          <p:sp>
            <p:nvSpPr>
              <p:cNvPr id="102" name="Oval 38"/>
              <p:cNvSpPr>
                <a:spLocks noChangeAspect="1"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" name="Arc 39"/>
              <p:cNvSpPr>
                <a:spLocks noChangeAspect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5" name="MoonLegend2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6655594" y="548081"/>
              <a:ext cx="209550" cy="209551"/>
              <a:chOff x="1694" y="2044"/>
              <a:chExt cx="160" cy="160"/>
            </a:xfrm>
          </p:grpSpPr>
          <p:sp>
            <p:nvSpPr>
              <p:cNvPr id="100" name="Oval 41"/>
              <p:cNvSpPr>
                <a:spLocks noChangeAspect="1"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Arc 42"/>
              <p:cNvSpPr>
                <a:spLocks noChangeAspect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6" name="MoonLegend4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6655594" y="1096563"/>
              <a:ext cx="209550" cy="209551"/>
              <a:chOff x="4495" y="1198"/>
              <a:chExt cx="160" cy="160"/>
            </a:xfrm>
          </p:grpSpPr>
          <p:sp>
            <p:nvSpPr>
              <p:cNvPr id="98" name="Oval 47"/>
              <p:cNvSpPr>
                <a:spLocks noChangeAspect="1"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9" name="Arc 48"/>
              <p:cNvSpPr>
                <a:spLocks noChangeAspect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7" name="MoonLegend5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6655594" y="1370805"/>
              <a:ext cx="209550" cy="209551"/>
              <a:chOff x="4495" y="1440"/>
              <a:chExt cx="160" cy="160"/>
            </a:xfrm>
          </p:grpSpPr>
          <p:sp>
            <p:nvSpPr>
              <p:cNvPr id="96" name="Oval 50"/>
              <p:cNvSpPr>
                <a:spLocks noChangeAspect="1"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7" name="Oval 51"/>
              <p:cNvSpPr>
                <a:spLocks noChangeAspect="1"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8" name="Legend1"/>
            <p:cNvSpPr>
              <a:spLocks noChangeArrowheads="1"/>
            </p:cNvSpPr>
            <p:nvPr/>
          </p:nvSpPr>
          <p:spPr bwMode="auto">
            <a:xfrm>
              <a:off x="6976269" y="286540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89" name="Legend2"/>
            <p:cNvSpPr>
              <a:spLocks noChangeArrowheads="1"/>
            </p:cNvSpPr>
            <p:nvPr/>
          </p:nvSpPr>
          <p:spPr bwMode="auto">
            <a:xfrm>
              <a:off x="6976269" y="561178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0" name="Legend3"/>
            <p:cNvSpPr>
              <a:spLocks noChangeArrowheads="1"/>
            </p:cNvSpPr>
            <p:nvPr/>
          </p:nvSpPr>
          <p:spPr bwMode="auto">
            <a:xfrm>
              <a:off x="6976269" y="835817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1" name="Legend4"/>
            <p:cNvSpPr>
              <a:spLocks noChangeArrowheads="1"/>
            </p:cNvSpPr>
            <p:nvPr/>
          </p:nvSpPr>
          <p:spPr bwMode="auto">
            <a:xfrm>
              <a:off x="6976269" y="1107280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2" name="Legend5"/>
            <p:cNvSpPr>
              <a:spLocks noChangeArrowheads="1"/>
            </p:cNvSpPr>
            <p:nvPr/>
          </p:nvSpPr>
          <p:spPr bwMode="auto">
            <a:xfrm>
              <a:off x="6976269" y="1383505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  <p:grpSp>
          <p:nvGrpSpPr>
            <p:cNvPr id="93" name="MoonLegend3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6655594" y="822322"/>
              <a:ext cx="209550" cy="209551"/>
              <a:chOff x="4495" y="1198"/>
              <a:chExt cx="160" cy="160"/>
            </a:xfrm>
          </p:grpSpPr>
          <p:sp>
            <p:nvSpPr>
              <p:cNvPr id="94" name="Oval 47"/>
              <p:cNvSpPr>
                <a:spLocks noChangeAspect="1"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5" name="Arc 48"/>
              <p:cNvSpPr>
                <a:spLocks noChangeAspect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04" name="Slide Number"/>
          <p:cNvSpPr txBox="1">
            <a:spLocks/>
          </p:cNvSpPr>
          <p:nvPr/>
        </p:nvSpPr>
        <p:spPr bwMode="auto">
          <a:xfrm>
            <a:off x="8808763" y="6633336"/>
            <a:ext cx="160294" cy="15701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42C328C1-A84F-4A39-A664-DBA00541A8C6}" type="slidenum">
              <a:rPr lang="en-US" smtClean="0">
                <a:solidFill>
                  <a:srgbClr val="FFFFFF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62" name="Picture 4" descr="http://upload.wikimedia.org/wikipedia/commons/thumb/8/82/Seal_of_Massachusetts.svg/2000px-Seal_of_Massachusetts.svg.png"/>
          <p:cNvPicPr>
            <a:picLocks noChangeAspect="1" noChangeArrowheads="1"/>
          </p:cNvPicPr>
          <p:nvPr userDrawn="1"/>
        </p:nvPicPr>
        <p:blipFill>
          <a:blip r:embed="rId2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965" y="135844"/>
            <a:ext cx="629092" cy="62905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TextBox 104"/>
          <p:cNvSpPr txBox="1"/>
          <p:nvPr userDrawn="1"/>
        </p:nvSpPr>
        <p:spPr>
          <a:xfrm>
            <a:off x="5192429" y="6619158"/>
            <a:ext cx="430212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255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55" lvl="1" indent="-192067" defTabSz="895255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151" lvl="2" indent="-261910" defTabSz="895255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298" lvl="3" indent="-155558" defTabSz="895255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728" lvl="4" indent="-130162" defTabSz="895255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>
              <a:buClr>
                <a:srgbClr val="000000"/>
              </a:buClr>
            </a:pPr>
            <a:r>
              <a:rPr lang="en-US" sz="1100" dirty="0">
                <a:solidFill>
                  <a:srgbClr val="FFFFFF"/>
                </a:solidFill>
              </a:rPr>
              <a:t>DRAFT Confidential – Proprietary and predecisional</a:t>
            </a:r>
          </a:p>
        </p:txBody>
      </p:sp>
    </p:spTree>
    <p:extLst>
      <p:ext uri="{BB962C8B-B14F-4D97-AF65-F5344CB8AC3E}">
        <p14:creationId xmlns:p14="http://schemas.microsoft.com/office/powerpoint/2010/main" val="2845898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ftr="0" dt="0"/>
  <p:txStyles>
    <p:titleStyle>
      <a:lvl1pPr algn="l" defTabSz="913429" rtl="0" eaLnBrk="1" fontAlgn="base" hangingPunct="1">
        <a:spcBef>
          <a:spcPct val="0"/>
        </a:spcBef>
        <a:spcAft>
          <a:spcPct val="0"/>
        </a:spcAft>
        <a:tabLst>
          <a:tab pos="275324" algn="l"/>
        </a:tabLst>
        <a:defRPr sz="19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2pPr>
      <a:lvl3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3pPr>
      <a:lvl4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4pPr>
      <a:lvl5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5pPr>
      <a:lvl6pPr marL="466431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32863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99295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65728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defRPr sz="1600" baseline="0">
          <a:solidFill>
            <a:schemeClr val="tx1"/>
          </a:solidFill>
          <a:latin typeface="+mn-lt"/>
          <a:ea typeface="+mn-ea"/>
          <a:cs typeface="+mn-cs"/>
        </a:defRPr>
      </a:lvl1pPr>
      <a:lvl2pPr marL="197586" indent="-195966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600" baseline="0">
          <a:solidFill>
            <a:schemeClr val="tx1"/>
          </a:solidFill>
          <a:latin typeface="+mn-lt"/>
        </a:defRPr>
      </a:lvl2pPr>
      <a:lvl3pPr marL="466431" indent="-267227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00" baseline="0">
          <a:solidFill>
            <a:schemeClr val="tx1"/>
          </a:solidFill>
          <a:latin typeface="+mn-lt"/>
        </a:defRPr>
      </a:lvl3pPr>
      <a:lvl4pPr marL="626768" indent="-158716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600" baseline="0">
          <a:solidFill>
            <a:schemeClr val="tx1"/>
          </a:solidFill>
          <a:latin typeface="+mn-lt"/>
        </a:defRPr>
      </a:lvl4pPr>
      <a:lvl5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5pPr>
      <a:lvl6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431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863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295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728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2159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590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5022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1453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945" y="234863"/>
            <a:ext cx="8053675" cy="584775"/>
          </a:xfrm>
        </p:spPr>
        <p:txBody>
          <a:bodyPr/>
          <a:lstStyle/>
          <a:p>
            <a:r>
              <a:rPr lang="en-US" dirty="0" smtClean="0"/>
              <a:t>DGRS is seeking DW input for accuracy benchmark production as part of scorecard enhancements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16053"/>
              </p:ext>
            </p:extLst>
          </p:nvPr>
        </p:nvGraphicFramePr>
        <p:xfrm>
          <a:off x="457200" y="2019296"/>
          <a:ext cx="8229606" cy="1295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095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80951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80951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80951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48095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80951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480951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480951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48095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80951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480951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480951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  <a:gridCol w="53439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8095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480951">
                  <a:extLst>
                    <a:ext uri="{9D8B030D-6E8A-4147-A177-3AD203B41FA5}">
                      <a16:colId xmlns="" xmlns:a16="http://schemas.microsoft.com/office/drawing/2014/main" val="20015"/>
                    </a:ext>
                  </a:extLst>
                </a:gridCol>
                <a:gridCol w="480951">
                  <a:extLst>
                    <a:ext uri="{9D8B030D-6E8A-4147-A177-3AD203B41FA5}">
                      <a16:colId xmlns="" xmlns:a16="http://schemas.microsoft.com/office/drawing/2014/main" val="20016"/>
                    </a:ext>
                  </a:extLst>
                </a:gridCol>
                <a:gridCol w="480951">
                  <a:extLst>
                    <a:ext uri="{9D8B030D-6E8A-4147-A177-3AD203B41FA5}">
                      <a16:colId xmlns="" xmlns:a16="http://schemas.microsoft.com/office/drawing/2014/main" val="20017"/>
                    </a:ext>
                  </a:extLst>
                </a:gridCol>
              </a:tblGrid>
              <a:tr h="327660">
                <a:tc gridSpan="17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DRAFT</a:t>
                      </a:r>
                      <a:r>
                        <a:rPr lang="en-US" sz="12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– Round 1 Accuracy Benchmark Production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7660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Sep </a:t>
                      </a:r>
                      <a:r>
                        <a:rPr lang="en-US" sz="1100" b="1" u="none" strike="noStrike" dirty="0" smtClean="0">
                          <a:effectLst/>
                        </a:rPr>
                        <a:t>’18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Oct ’18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Nov ’18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…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Feb ’18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" name="Straight Arrow Connector 3"/>
          <p:cNvCxnSpPr>
            <a:cxnSpLocks/>
          </p:cNvCxnSpPr>
          <p:nvPr/>
        </p:nvCxnSpPr>
        <p:spPr>
          <a:xfrm>
            <a:off x="495300" y="2993893"/>
            <a:ext cx="8267700" cy="0"/>
          </a:xfrm>
          <a:prstGeom prst="straightConnector1">
            <a:avLst/>
          </a:prstGeom>
          <a:ln w="57150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 bwMode="auto">
          <a:xfrm>
            <a:off x="190500" y="2853659"/>
            <a:ext cx="716280" cy="2667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  <a:miter lim="800000"/>
            <a:headEnd/>
            <a:tailEnd/>
          </a:ln>
          <a:effectLst/>
          <a:extLst/>
        </p:spPr>
        <p:txBody>
          <a:bodyPr wrap="square"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000000"/>
                </a:solidFill>
              </a:rPr>
              <a:t>Issue Identification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1028700" y="2860520"/>
            <a:ext cx="716280" cy="2667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wrap="square"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000000"/>
                </a:solidFill>
              </a:rPr>
              <a:t>Issue Quantification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2476500" y="2853658"/>
            <a:ext cx="716280" cy="2667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wrap="square"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000000"/>
                </a:solidFill>
              </a:rPr>
              <a:t>Benchmark Creation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4381500" y="2853654"/>
            <a:ext cx="716280" cy="2667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square"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000000"/>
                </a:solidFill>
              </a:rPr>
              <a:t>Start QA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5295900" y="2853655"/>
            <a:ext cx="716280" cy="2667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square"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000000"/>
                </a:solidFill>
              </a:rPr>
              <a:t>Start Pilot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7734300" y="2860520"/>
            <a:ext cx="716280" cy="2667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square"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000000"/>
                </a:solidFill>
              </a:rPr>
              <a:t>Start Go-Live</a:t>
            </a:r>
          </a:p>
        </p:txBody>
      </p:sp>
      <p:sp>
        <p:nvSpPr>
          <p:cNvPr id="11" name="Oval 10"/>
          <p:cNvSpPr/>
          <p:nvPr/>
        </p:nvSpPr>
        <p:spPr bwMode="auto">
          <a:xfrm>
            <a:off x="117348" y="2780502"/>
            <a:ext cx="146304" cy="14630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/>
            </a:solidFill>
            <a:headEnd/>
            <a:tailEnd/>
          </a:ln>
          <a:ex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2" name="Oval 11"/>
          <p:cNvSpPr/>
          <p:nvPr/>
        </p:nvSpPr>
        <p:spPr bwMode="auto">
          <a:xfrm>
            <a:off x="955548" y="2780502"/>
            <a:ext cx="146304" cy="14630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/>
            </a:solidFill>
            <a:headEnd/>
            <a:tailEnd/>
          </a:ln>
          <a:ex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3" name="Oval 12"/>
          <p:cNvSpPr/>
          <p:nvPr/>
        </p:nvSpPr>
        <p:spPr bwMode="auto">
          <a:xfrm>
            <a:off x="2403348" y="2780502"/>
            <a:ext cx="146304" cy="14630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/>
            </a:solidFill>
            <a:headEnd/>
            <a:tailEnd/>
          </a:ln>
          <a:ex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4" name="Oval 13"/>
          <p:cNvSpPr/>
          <p:nvPr/>
        </p:nvSpPr>
        <p:spPr bwMode="auto">
          <a:xfrm>
            <a:off x="4308348" y="2780502"/>
            <a:ext cx="146304" cy="146304"/>
          </a:xfrm>
          <a:prstGeom prst="ellipse">
            <a:avLst/>
          </a:prstGeom>
          <a:ln w="19050">
            <a:headEnd/>
            <a:tailEnd/>
          </a:ln>
          <a:ex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Oval 14"/>
          <p:cNvSpPr/>
          <p:nvPr/>
        </p:nvSpPr>
        <p:spPr bwMode="auto">
          <a:xfrm>
            <a:off x="5222748" y="2780502"/>
            <a:ext cx="146304" cy="146304"/>
          </a:xfrm>
          <a:prstGeom prst="ellipse">
            <a:avLst/>
          </a:prstGeom>
          <a:ln w="19050">
            <a:headEnd/>
            <a:tailEnd/>
          </a:ln>
          <a:ex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6" name="Oval 15"/>
          <p:cNvSpPr/>
          <p:nvPr/>
        </p:nvSpPr>
        <p:spPr bwMode="auto">
          <a:xfrm>
            <a:off x="7661148" y="2786598"/>
            <a:ext cx="146304" cy="146304"/>
          </a:xfrm>
          <a:prstGeom prst="ellipse">
            <a:avLst/>
          </a:prstGeom>
          <a:ln w="19050">
            <a:headEnd/>
            <a:tailEnd/>
          </a:ln>
          <a:ex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000000"/>
                </a:solidFill>
              </a:rPr>
              <a:t>6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455998" y="3385894"/>
            <a:ext cx="7792652" cy="511801"/>
            <a:chOff x="675674" y="2223848"/>
            <a:chExt cx="7792652" cy="511801"/>
          </a:xfrm>
        </p:grpSpPr>
        <p:grpSp>
          <p:nvGrpSpPr>
            <p:cNvPr id="18" name="Group 17"/>
            <p:cNvGrpSpPr/>
            <p:nvPr/>
          </p:nvGrpSpPr>
          <p:grpSpPr>
            <a:xfrm>
              <a:off x="675674" y="2223848"/>
              <a:ext cx="7792652" cy="228600"/>
              <a:chOff x="449140" y="2110740"/>
              <a:chExt cx="7792652" cy="228600"/>
            </a:xfrm>
          </p:grpSpPr>
          <p:sp>
            <p:nvSpPr>
              <p:cNvPr id="24" name="Left Brace 23"/>
              <p:cNvSpPr/>
              <p:nvPr/>
            </p:nvSpPr>
            <p:spPr>
              <a:xfrm rot="5400000" flipH="1">
                <a:off x="719870" y="1840010"/>
                <a:ext cx="228600" cy="770060"/>
              </a:xfrm>
              <a:prstGeom prst="leftBrac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" name="Left Brace 24"/>
              <p:cNvSpPr/>
              <p:nvPr/>
            </p:nvSpPr>
            <p:spPr>
              <a:xfrm rot="5400000" flipH="1">
                <a:off x="1950720" y="1455420"/>
                <a:ext cx="228600" cy="1539240"/>
              </a:xfrm>
              <a:prstGeom prst="leftBrac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Left Brace 25"/>
              <p:cNvSpPr/>
              <p:nvPr/>
            </p:nvSpPr>
            <p:spPr>
              <a:xfrm rot="5400000" flipH="1">
                <a:off x="3692906" y="1307846"/>
                <a:ext cx="228600" cy="1834388"/>
              </a:xfrm>
              <a:prstGeom prst="leftBrac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Left Brace 26"/>
              <p:cNvSpPr/>
              <p:nvPr/>
            </p:nvSpPr>
            <p:spPr>
              <a:xfrm rot="5400000" flipH="1">
                <a:off x="5105400" y="1805940"/>
                <a:ext cx="228600" cy="838200"/>
              </a:xfrm>
              <a:prstGeom prst="leftBrac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Left Brace 27"/>
              <p:cNvSpPr/>
              <p:nvPr/>
            </p:nvSpPr>
            <p:spPr>
              <a:xfrm rot="5400000" flipH="1">
                <a:off x="6864096" y="961644"/>
                <a:ext cx="228600" cy="2526792"/>
              </a:xfrm>
              <a:prstGeom prst="leftBrac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787366" y="2486844"/>
              <a:ext cx="58862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i="1" dirty="0">
                  <a:solidFill>
                    <a:srgbClr val="000000"/>
                  </a:solidFill>
                </a:rPr>
                <a:t>1 week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965182" y="2486774"/>
              <a:ext cx="65274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i="1" dirty="0">
                  <a:solidFill>
                    <a:srgbClr val="000000"/>
                  </a:solidFill>
                </a:rPr>
                <a:t>3 weeks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707368" y="2486774"/>
              <a:ext cx="65274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i="1" dirty="0">
                  <a:solidFill>
                    <a:srgbClr val="000000"/>
                  </a:solidFill>
                </a:rPr>
                <a:t>4 weeks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119862" y="2489428"/>
              <a:ext cx="65274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i="1" dirty="0">
                  <a:solidFill>
                    <a:srgbClr val="000000"/>
                  </a:solidFill>
                </a:rPr>
                <a:t>2 weeks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850506" y="2480651"/>
              <a:ext cx="7088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i="1" dirty="0">
                  <a:solidFill>
                    <a:srgbClr val="000000"/>
                  </a:solidFill>
                </a:rPr>
                <a:t>3 months</a:t>
              </a:r>
            </a:p>
          </p:txBody>
        </p:sp>
      </p:grpSp>
      <p:sp>
        <p:nvSpPr>
          <p:cNvPr id="29" name="Rectangle 28"/>
          <p:cNvSpPr/>
          <p:nvPr/>
        </p:nvSpPr>
        <p:spPr bwMode="auto">
          <a:xfrm>
            <a:off x="871728" y="2690626"/>
            <a:ext cx="3436620" cy="606533"/>
          </a:xfrm>
          <a:prstGeom prst="rect">
            <a:avLst/>
          </a:prstGeom>
          <a:noFill/>
          <a:ln w="28575">
            <a:solidFill>
              <a:schemeClr val="accent3"/>
            </a:solidFill>
            <a:prstDash val="lgDash"/>
            <a:miter lim="800000"/>
            <a:headEnd/>
            <a:tailEnd/>
          </a:ln>
          <a:effectLst/>
          <a:extLst/>
        </p:spPr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39852" y="990600"/>
            <a:ext cx="84642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200" dirty="0" smtClean="0">
                <a:solidFill>
                  <a:srgbClr val="000000"/>
                </a:solidFill>
                <a:cs typeface="Calibri" panose="020F0502020204030204" pitchFamily="34" charset="0"/>
              </a:rPr>
              <a:t>Below </a:t>
            </a:r>
            <a:r>
              <a:rPr lang="en-US" sz="1200" dirty="0">
                <a:solidFill>
                  <a:srgbClr val="000000"/>
                </a:solidFill>
                <a:cs typeface="Calibri" panose="020F0502020204030204" pitchFamily="34" charset="0"/>
              </a:rPr>
              <a:t>are the primary activities and approximate timelines for completing each step.</a:t>
            </a:r>
          </a:p>
          <a:p>
            <a:pPr marL="171450" indent="-171450" defTabSz="457200">
              <a:buFont typeface="Arial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cs typeface="Calibri" panose="020F0502020204030204" pitchFamily="34" charset="0"/>
              </a:rPr>
              <a:t>DGRS anticipates needing DW support for quantifying data integrity issues and benchmark development during encounter data scorecard enhancement cycle. </a:t>
            </a:r>
          </a:p>
          <a:p>
            <a:pPr marL="171450" indent="-171450" defTabSz="457200">
              <a:buFont typeface="Arial" pitchFamily="34" charset="0"/>
              <a:buChar char="•"/>
            </a:pPr>
            <a:r>
              <a:rPr lang="en-US" sz="1200" dirty="0" smtClean="0">
                <a:solidFill>
                  <a:srgbClr val="000000"/>
                </a:solidFill>
                <a:cs typeface="Calibri" panose="020F0502020204030204" pitchFamily="34" charset="0"/>
              </a:rPr>
              <a:t>Timelines are estimates and will be updated based on discussions with DW. </a:t>
            </a:r>
            <a:endParaRPr lang="en-US" sz="1200" dirty="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B01A680C-23E9-4D86-B19A-1C4BDB96B91A}"/>
              </a:ext>
            </a:extLst>
          </p:cNvPr>
          <p:cNvSpPr txBox="1"/>
          <p:nvPr/>
        </p:nvSpPr>
        <p:spPr>
          <a:xfrm>
            <a:off x="339852" y="4191000"/>
            <a:ext cx="84642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457200">
              <a:buFont typeface="+mj-lt"/>
              <a:buAutoNum type="arabicPeriod"/>
            </a:pPr>
            <a:r>
              <a:rPr lang="en-US" sz="1200" b="1" dirty="0" smtClean="0">
                <a:solidFill>
                  <a:srgbClr val="000000"/>
                </a:solidFill>
                <a:cs typeface="Calibri" panose="020F0502020204030204" pitchFamily="34" charset="0"/>
              </a:rPr>
              <a:t>Issue </a:t>
            </a:r>
            <a:r>
              <a:rPr lang="en-US" sz="1200" b="1" dirty="0">
                <a:solidFill>
                  <a:srgbClr val="000000"/>
                </a:solidFill>
                <a:cs typeface="Calibri" panose="020F0502020204030204" pitchFamily="34" charset="0"/>
              </a:rPr>
              <a:t>Identification </a:t>
            </a:r>
            <a:r>
              <a:rPr lang="en-US" sz="1200" dirty="0">
                <a:solidFill>
                  <a:srgbClr val="000000"/>
                </a:solidFill>
                <a:cs typeface="Calibri" panose="020F0502020204030204" pitchFamily="34" charset="0"/>
              </a:rPr>
              <a:t>– DGRS reviewing list of encounter data integrity issues, to identify candidates for conversion to accuracy benchmarks</a:t>
            </a:r>
          </a:p>
          <a:p>
            <a:pPr marL="228600" indent="-228600" defTabSz="457200">
              <a:buFont typeface="+mj-lt"/>
              <a:buAutoNum type="arabicPeriod"/>
            </a:pPr>
            <a:r>
              <a:rPr lang="en-US" sz="1200" b="1" dirty="0">
                <a:solidFill>
                  <a:srgbClr val="000000"/>
                </a:solidFill>
                <a:cs typeface="Calibri" panose="020F0502020204030204" pitchFamily="34" charset="0"/>
              </a:rPr>
              <a:t>Issue Quantification </a:t>
            </a:r>
            <a:r>
              <a:rPr lang="en-US" sz="1200" dirty="0">
                <a:solidFill>
                  <a:srgbClr val="000000"/>
                </a:solidFill>
                <a:cs typeface="Calibri" panose="020F0502020204030204" pitchFamily="34" charset="0"/>
              </a:rPr>
              <a:t>– With DW support, DGRS will quantify each issue by determining percentage of claims affected, to inform prioritization. DGRS will write requirements for benchmark development based on selected issues. </a:t>
            </a:r>
          </a:p>
          <a:p>
            <a:pPr marL="228600" indent="-228600" defTabSz="457200">
              <a:buFont typeface="+mj-lt"/>
              <a:buAutoNum type="arabicPeriod"/>
            </a:pPr>
            <a:r>
              <a:rPr lang="en-US" sz="1200" b="1" dirty="0">
                <a:solidFill>
                  <a:srgbClr val="000000"/>
                </a:solidFill>
                <a:cs typeface="Calibri" panose="020F0502020204030204" pitchFamily="34" charset="0"/>
              </a:rPr>
              <a:t>Benchmark Creation</a:t>
            </a:r>
            <a:r>
              <a:rPr lang="en-US" sz="1200" dirty="0">
                <a:solidFill>
                  <a:srgbClr val="000000"/>
                </a:solidFill>
                <a:cs typeface="Calibri" panose="020F0502020204030204" pitchFamily="34" charset="0"/>
              </a:rPr>
              <a:t> – DW will develop benchmark query based on aforementioned requirements. </a:t>
            </a:r>
            <a:endParaRPr lang="en-US" sz="1200" dirty="0" smtClean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marL="228600" indent="-228600" defTabSz="457200">
              <a:buFont typeface="+mj-lt"/>
              <a:buAutoNum type="arabicPeriod"/>
            </a:pPr>
            <a:endParaRPr lang="en-US" sz="1200" dirty="0" smtClean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defTabSz="457200"/>
            <a:r>
              <a:rPr lang="en-US" sz="1200" b="1" dirty="0" smtClean="0">
                <a:solidFill>
                  <a:srgbClr val="000000"/>
                </a:solidFill>
                <a:cs typeface="Calibri" panose="020F0502020204030204" pitchFamily="34" charset="0"/>
              </a:rPr>
              <a:t>Key Questions:</a:t>
            </a:r>
          </a:p>
          <a:p>
            <a:pPr marL="228600" indent="-228600" defTabSz="457200">
              <a:buAutoNum type="arabicPeriod"/>
            </a:pPr>
            <a:r>
              <a:rPr lang="en-US" sz="1200" dirty="0" smtClean="0">
                <a:solidFill>
                  <a:srgbClr val="000000"/>
                </a:solidFill>
                <a:cs typeface="Calibri" panose="020F0502020204030204" pitchFamily="34" charset="0"/>
              </a:rPr>
              <a:t>For Issues Quantification, which team is better suited to support this step? DW Projects or DW Informatics? </a:t>
            </a:r>
          </a:p>
          <a:p>
            <a:pPr marL="228600" indent="-228600" defTabSz="457200">
              <a:buAutoNum type="arabicPeriod"/>
            </a:pPr>
            <a:r>
              <a:rPr lang="en-US" sz="1200" dirty="0" smtClean="0">
                <a:solidFill>
                  <a:srgbClr val="000000"/>
                </a:solidFill>
                <a:cs typeface="Calibri" panose="020F0502020204030204" pitchFamily="34" charset="0"/>
              </a:rPr>
              <a:t>What are appropriate timelines for steps 2 and 3? What information would help refine these timelines?</a:t>
            </a:r>
            <a:endParaRPr lang="en-US" sz="1200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defTabSz="457200"/>
            <a:endParaRPr lang="en-US" sz="1200" dirty="0" smtClean="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0543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RM_CF_DG1140">
  <a:themeElements>
    <a:clrScheme name="Curren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C0C0C0"/>
      </a:accent1>
      <a:accent2>
        <a:srgbClr val="4FB94F"/>
      </a:accent2>
      <a:accent3>
        <a:srgbClr val="1D954F"/>
      </a:accent3>
      <a:accent4>
        <a:srgbClr val="5E8BFF"/>
      </a:accent4>
      <a:accent5>
        <a:srgbClr val="FFCD33"/>
      </a:accent5>
      <a:accent6>
        <a:srgbClr val="808080"/>
      </a:accent6>
      <a:hlink>
        <a:srgbClr val="1D954F"/>
      </a:hlink>
      <a:folHlink>
        <a:srgbClr val="5E8BFF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0000"/>
        </a:solidFill>
        <a:ln w="9525">
          <a:solidFill>
            <a:srgbClr val="808080"/>
          </a:solidFill>
          <a:miter lim="800000"/>
          <a:headEnd/>
          <a:tailEnd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wrap="none" anchor="ctr"/>
      <a:lstStyle>
        <a:defPPr defTabSz="914400" fontAlgn="base">
          <a:spcBef>
            <a:spcPct val="0"/>
          </a:spcBef>
          <a:spcAft>
            <a:spcPct val="0"/>
          </a:spcAft>
          <a:defRPr sz="1200" dirty="0">
            <a:solidFill>
              <a:srgbClr val="000000"/>
            </a:solidFill>
            <a:latin typeface="Arial"/>
          </a:defRPr>
        </a:defPPr>
      </a:lst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rrent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0C0C0"/>
        </a:accent1>
        <a:accent2>
          <a:srgbClr val="4FB94F"/>
        </a:accent2>
        <a:accent3>
          <a:srgbClr val="1D954F"/>
        </a:accent3>
        <a:accent4>
          <a:srgbClr val="5E8BFF"/>
        </a:accent4>
        <a:accent5>
          <a:srgbClr val="FFCD33"/>
        </a:accent5>
        <a:accent6>
          <a:srgbClr val="808080"/>
        </a:accent6>
        <a:hlink>
          <a:srgbClr val="1D954F"/>
        </a:hlink>
        <a:folHlink>
          <a:srgbClr val="5E8B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214</Words>
  <Application>Microsoft Office PowerPoint</Application>
  <PresentationFormat>On-screen Show (4:3)</PresentationFormat>
  <Paragraphs>34</Paragraphs>
  <Slides>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SRM_CF_DG1140</vt:lpstr>
      <vt:lpstr>think-cell Slide</vt:lpstr>
      <vt:lpstr>DGRS is seeking DW input for accuracy benchmark production as part of scorecard enhancements</vt:lpstr>
    </vt:vector>
  </TitlesOfParts>
  <Company>EOHHS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DGRS Needs DW Input on Resource Availability for Quantifying Data Integrity Issues and Benchmark Development</dc:title>
  <dc:creator>EOHHS</dc:creator>
  <cp:lastModifiedBy>Dominguez, Irving (EHS)</cp:lastModifiedBy>
  <cp:revision>2</cp:revision>
  <dcterms:created xsi:type="dcterms:W3CDTF">2018-08-22T15:30:35Z</dcterms:created>
  <dcterms:modified xsi:type="dcterms:W3CDTF">2018-08-22T17:06:02Z</dcterms:modified>
</cp:coreProperties>
</file>
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</p:sldMasterIdLst>
  <p:notesMasterIdLst>
    <p:notesMasterId r:id="rId12"/>
  </p:notesMasterIdLst>
  <p:sldIdLst>
    <p:sldId id="257" r:id="rId3"/>
    <p:sldId id="345" r:id="rId4"/>
    <p:sldId id="341" r:id="rId5"/>
    <p:sldId id="344" r:id="rId6"/>
    <p:sldId id="347" r:id="rId7"/>
    <p:sldId id="353" r:id="rId8"/>
    <p:sldId id="354" r:id="rId9"/>
    <p:sldId id="355" r:id="rId10"/>
    <p:sldId id="356" r:id="rId1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9999"/>
    <a:srgbClr val="FFFFCC"/>
    <a:srgbClr val="FF5050"/>
    <a:srgbClr val="FF7C80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73" autoAdjust="0"/>
  </p:normalViewPr>
  <p:slideViewPr>
    <p:cSldViewPr>
      <p:cViewPr varScale="1">
        <p:scale>
          <a:sx n="105" d="100"/>
          <a:sy n="105" d="100"/>
        </p:scale>
        <p:origin x="-1716" y="-90"/>
      </p:cViewPr>
      <p:guideLst>
        <p:guide orient="horz" pos="4272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97EE044-3013-477A-BBF1-929310438707}" type="datetimeFigureOut">
              <a:rPr lang="en-US" smtClean="0"/>
              <a:t>5/18/2018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50ABD19-24B7-4324-B0D0-84DAC8BA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63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0ABD19-24B7-4324-B0D0-84DAC8BA99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55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0ABD19-24B7-4324-B0D0-84DAC8BA99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5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83408964"/>
              </p:ext>
            </p:ext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 bwMode="auto">
          <a:xfrm>
            <a:off x="2693796" y="2648241"/>
            <a:ext cx="5539245" cy="50783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3300" b="0" baseline="0">
                <a:latin typeface="+mj-lt"/>
                <a:ea typeface="+mj-ea"/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3796" y="3770660"/>
            <a:ext cx="5539245" cy="219820"/>
          </a:xfrm>
        </p:spPr>
        <p:txBody>
          <a:bodyPr>
            <a:spAutoFit/>
          </a:bodyPr>
          <a:lstStyle>
            <a:lvl1pPr>
              <a:defRPr sz="1400" baseline="0"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2" name="TitleTopPlaceholder"/>
          <p:cNvSpPr>
            <a:spLocks noChangeArrowheads="1"/>
          </p:cNvSpPr>
          <p:nvPr/>
        </p:nvSpPr>
        <p:spPr bwMode="ltGray">
          <a:xfrm>
            <a:off x="2125654" y="3245969"/>
            <a:ext cx="2125653" cy="436455"/>
          </a:xfrm>
          <a:prstGeom prst="rect">
            <a:avLst/>
          </a:prstGeom>
          <a:solidFill>
            <a:schemeClr val="accent4">
              <a:alpha val="77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3" name="TitleTopPlaceholder"/>
          <p:cNvSpPr>
            <a:spLocks noChangeArrowheads="1"/>
          </p:cNvSpPr>
          <p:nvPr/>
        </p:nvSpPr>
        <p:spPr bwMode="ltGray">
          <a:xfrm>
            <a:off x="1" y="3245968"/>
            <a:ext cx="2125653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4" name="TitleTopPlaceholder"/>
          <p:cNvSpPr>
            <a:spLocks noChangeArrowheads="1"/>
          </p:cNvSpPr>
          <p:nvPr/>
        </p:nvSpPr>
        <p:spPr bwMode="ltGray">
          <a:xfrm>
            <a:off x="3886006" y="3246844"/>
            <a:ext cx="5257994" cy="436455"/>
          </a:xfrm>
          <a:prstGeom prst="rect">
            <a:avLst/>
          </a:prstGeom>
          <a:solidFill>
            <a:srgbClr val="009900">
              <a:alpha val="69000"/>
            </a:srgb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15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7" y="2029603"/>
            <a:ext cx="2075338" cy="207521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95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002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6359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077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876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5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 bwMode="auto">
          <a:xfrm>
            <a:off x="2693796" y="2648241"/>
            <a:ext cx="5539245" cy="50783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3300" b="0" baseline="0">
                <a:latin typeface="+mj-lt"/>
                <a:ea typeface="+mj-ea"/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3796" y="3770660"/>
            <a:ext cx="5539245" cy="219820"/>
          </a:xfrm>
        </p:spPr>
        <p:txBody>
          <a:bodyPr>
            <a:spAutoFit/>
          </a:bodyPr>
          <a:lstStyle>
            <a:lvl1pPr>
              <a:defRPr sz="1400" baseline="0"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2" name="TitleTopPlaceholder"/>
          <p:cNvSpPr>
            <a:spLocks noChangeArrowheads="1"/>
          </p:cNvSpPr>
          <p:nvPr/>
        </p:nvSpPr>
        <p:spPr bwMode="ltGray">
          <a:xfrm>
            <a:off x="2125654" y="3245969"/>
            <a:ext cx="2125653" cy="436455"/>
          </a:xfrm>
          <a:prstGeom prst="rect">
            <a:avLst/>
          </a:prstGeom>
          <a:solidFill>
            <a:schemeClr val="accent4">
              <a:alpha val="77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lIns="93296" tIns="46648" rIns="93296" bIns="46648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itleTopPlaceholder"/>
          <p:cNvSpPr>
            <a:spLocks noChangeArrowheads="1"/>
          </p:cNvSpPr>
          <p:nvPr/>
        </p:nvSpPr>
        <p:spPr bwMode="ltGray">
          <a:xfrm>
            <a:off x="1" y="3245968"/>
            <a:ext cx="2125653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lIns="93296" tIns="46648" rIns="93296" bIns="46648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TopPlaceholder"/>
          <p:cNvSpPr>
            <a:spLocks noChangeArrowheads="1"/>
          </p:cNvSpPr>
          <p:nvPr/>
        </p:nvSpPr>
        <p:spPr bwMode="ltGray">
          <a:xfrm>
            <a:off x="3886006" y="3246844"/>
            <a:ext cx="5257994" cy="436455"/>
          </a:xfrm>
          <a:prstGeom prst="rect">
            <a:avLst/>
          </a:prstGeom>
          <a:solidFill>
            <a:srgbClr val="009900">
              <a:alpha val="69000"/>
            </a:srgb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lIns="93296" tIns="46648" rIns="93296" bIns="46648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7" y="2029603"/>
            <a:ext cx="2075338" cy="207521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740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863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455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85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1928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704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13" Type="http://schemas.openxmlformats.org/officeDocument/2006/relationships/tags" Target="../tags/tag5.xml"/><Relationship Id="rId18" Type="http://schemas.openxmlformats.org/officeDocument/2006/relationships/tags" Target="../tags/tag10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3.xml"/><Relationship Id="rId7" Type="http://schemas.openxmlformats.org/officeDocument/2006/relationships/theme" Target="../theme/theme1.xml"/><Relationship Id="rId12" Type="http://schemas.openxmlformats.org/officeDocument/2006/relationships/tags" Target="../tags/tag4.xml"/><Relationship Id="rId17" Type="http://schemas.openxmlformats.org/officeDocument/2006/relationships/tags" Target="../tags/tag9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8.xml"/><Relationship Id="rId20" Type="http://schemas.openxmlformats.org/officeDocument/2006/relationships/tags" Target="../tags/tag1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24" Type="http://schemas.openxmlformats.org/officeDocument/2006/relationships/tags" Target="../tags/tag16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7.xml"/><Relationship Id="rId23" Type="http://schemas.openxmlformats.org/officeDocument/2006/relationships/tags" Target="../tags/tag15.xml"/><Relationship Id="rId10" Type="http://schemas.openxmlformats.org/officeDocument/2006/relationships/tags" Target="../tags/tag2.xml"/><Relationship Id="rId19" Type="http://schemas.openxmlformats.org/officeDocument/2006/relationships/tags" Target="../tags/tag11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Relationship Id="rId14" Type="http://schemas.openxmlformats.org/officeDocument/2006/relationships/tags" Target="../tags/tag6.xml"/><Relationship Id="rId22" Type="http://schemas.openxmlformats.org/officeDocument/2006/relationships/tags" Target="../tags/tag14.xml"/><Relationship Id="rId27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9.xml"/><Relationship Id="rId21" Type="http://schemas.openxmlformats.org/officeDocument/2006/relationships/tags" Target="../tags/tag30.xml"/><Relationship Id="rId7" Type="http://schemas.openxmlformats.org/officeDocument/2006/relationships/theme" Target="../theme/theme2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oleObject" Target="../embeddings/oleObject3.bin"/><Relationship Id="rId2" Type="http://schemas.openxmlformats.org/officeDocument/2006/relationships/slideLayout" Target="../slideLayouts/slideLayout8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5" Type="http://schemas.openxmlformats.org/officeDocument/2006/relationships/slideLayout" Target="../slideLayouts/slideLayout11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4" Type="http://schemas.openxmlformats.org/officeDocument/2006/relationships/slideLayout" Target="../slideLayouts/slideLayout10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763294513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" name="think-cell Slide" r:id="rId25" imgW="270" imgH="270" progId="TCLayout.ActiveDocument.1">
                  <p:embed/>
                </p:oleObj>
              </mc:Choice>
              <mc:Fallback>
                <p:oleObj name="think-cell Slide" r:id="rId2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7"/>
          <p:cNvGrpSpPr/>
          <p:nvPr/>
        </p:nvGrpSpPr>
        <p:grpSpPr bwMode="ltGray">
          <a:xfrm>
            <a:off x="2" y="6565687"/>
            <a:ext cx="9143999" cy="292313"/>
            <a:chOff x="-476250" y="1078229"/>
            <a:chExt cx="9437688" cy="475297"/>
          </a:xfrm>
        </p:grpSpPr>
        <p:sp>
          <p:nvSpPr>
            <p:cNvPr id="59" name="TitleTopPlaceholder"/>
            <p:cNvSpPr>
              <a:spLocks noChangeArrowheads="1"/>
            </p:cNvSpPr>
            <p:nvPr/>
          </p:nvSpPr>
          <p:spPr bwMode="ltGray">
            <a:xfrm>
              <a:off x="1717675" y="1078230"/>
              <a:ext cx="2193925" cy="474345"/>
            </a:xfrm>
            <a:prstGeom prst="rect">
              <a:avLst/>
            </a:prstGeom>
            <a:solidFill>
              <a:schemeClr val="accent4">
                <a:alpha val="77000"/>
              </a:schemeClr>
            </a:solidFill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60" name="TitleTopPlaceholder"/>
            <p:cNvSpPr>
              <a:spLocks noChangeArrowheads="1"/>
            </p:cNvSpPr>
            <p:nvPr/>
          </p:nvSpPr>
          <p:spPr bwMode="ltGray">
            <a:xfrm>
              <a:off x="-476250" y="1078229"/>
              <a:ext cx="2193925" cy="474345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61" name="TitleTopPlaceholder"/>
            <p:cNvSpPr>
              <a:spLocks noChangeArrowheads="1"/>
            </p:cNvSpPr>
            <p:nvPr/>
          </p:nvSpPr>
          <p:spPr bwMode="ltGray">
            <a:xfrm>
              <a:off x="3534567" y="1079181"/>
              <a:ext cx="5426871" cy="474345"/>
            </a:xfrm>
            <a:prstGeom prst="rect">
              <a:avLst/>
            </a:prstGeom>
            <a:solidFill>
              <a:srgbClr val="009900">
                <a:alpha val="69000"/>
              </a:srgbClr>
            </a:solidFill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2156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4945" y="234863"/>
            <a:ext cx="8053675" cy="29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174944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174944" y="542617"/>
            <a:ext cx="805367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2" name="Slide Elements" hidden="1"/>
          <p:cNvGrpSpPr>
            <a:grpSpLocks/>
          </p:cNvGrpSpPr>
          <p:nvPr/>
        </p:nvGrpSpPr>
        <p:grpSpPr bwMode="auto">
          <a:xfrm>
            <a:off x="174944" y="6086391"/>
            <a:ext cx="8799129" cy="413035"/>
            <a:chOff x="75" y="3895"/>
            <a:chExt cx="689" cy="255"/>
          </a:xfrm>
        </p:grpSpPr>
        <p:sp>
          <p:nvSpPr>
            <p:cNvPr id="13" name="4. Footnote"/>
            <p:cNvSpPr txBox="1">
              <a:spLocks noChangeArrowheads="1"/>
            </p:cNvSpPr>
            <p:nvPr/>
          </p:nvSpPr>
          <p:spPr bwMode="auto">
            <a:xfrm>
              <a:off x="75" y="3895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5. Source"/>
            <p:cNvSpPr>
              <a:spLocks noChangeArrowheads="1"/>
            </p:cNvSpPr>
            <p:nvPr/>
          </p:nvSpPr>
          <p:spPr bwMode="auto">
            <a:xfrm>
              <a:off x="75" y="4053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621910" indent="-621910" defTabSz="913429" fontAlgn="base">
                <a:spcBef>
                  <a:spcPct val="0"/>
                </a:spcBef>
                <a:spcAft>
                  <a:spcPct val="0"/>
                </a:spcAft>
                <a:tabLst>
                  <a:tab pos="625148" algn="l"/>
                </a:tabLst>
              </a:pPr>
              <a:r>
                <a:rPr lang="en-US" sz="1000" dirty="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6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63" name="LegendBoxes" hidden="1"/>
          <p:cNvGrpSpPr>
            <a:grpSpLocks/>
          </p:cNvGrpSpPr>
          <p:nvPr/>
        </p:nvGrpSpPr>
        <p:grpSpPr bwMode="auto">
          <a:xfrm>
            <a:off x="7449476" y="275439"/>
            <a:ext cx="779144" cy="1017201"/>
            <a:chOff x="4936" y="176"/>
            <a:chExt cx="481" cy="628"/>
          </a:xfrm>
        </p:grpSpPr>
        <p:sp>
          <p:nvSpPr>
            <p:cNvPr id="64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5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66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7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68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2" name="LegendLines" hidden="1"/>
          <p:cNvGrpSpPr>
            <a:grpSpLocks/>
          </p:cNvGrpSpPr>
          <p:nvPr/>
        </p:nvGrpSpPr>
        <p:grpSpPr bwMode="auto">
          <a:xfrm>
            <a:off x="7135228" y="275439"/>
            <a:ext cx="1093393" cy="745084"/>
            <a:chOff x="4750" y="176"/>
            <a:chExt cx="675" cy="460"/>
          </a:xfrm>
        </p:grpSpPr>
        <p:sp>
          <p:nvSpPr>
            <p:cNvPr id="73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4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5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6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7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8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79" name="Sticker" hidden="1"/>
          <p:cNvGrpSpPr/>
          <p:nvPr/>
        </p:nvGrpSpPr>
        <p:grpSpPr bwMode="auto">
          <a:xfrm>
            <a:off x="7139991" y="275438"/>
            <a:ext cx="1088630" cy="216680"/>
            <a:chOff x="7673880" y="285750"/>
            <a:chExt cx="1066895" cy="212366"/>
          </a:xfrm>
        </p:grpSpPr>
        <p:sp>
          <p:nvSpPr>
            <p:cNvPr id="80" name="StickerRectangle"/>
            <p:cNvSpPr>
              <a:spLocks noChangeArrowheads="1"/>
            </p:cNvSpPr>
            <p:nvPr/>
          </p:nvSpPr>
          <p:spPr bwMode="auto">
            <a:xfrm>
              <a:off x="7673880" y="285750"/>
              <a:ext cx="1066895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81" name="AutoShape 31"/>
            <p:cNvCxnSpPr>
              <a:cxnSpLocks noChangeShapeType="1"/>
              <a:stCxn id="80" idx="2"/>
              <a:endCxn id="80" idx="4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2"/>
            <p:cNvCxnSpPr>
              <a:cxnSpLocks noChangeShapeType="1"/>
              <a:stCxn id="80" idx="4"/>
              <a:endCxn id="80" idx="6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" name="LegendMoons" hidden="1"/>
          <p:cNvGrpSpPr/>
          <p:nvPr/>
        </p:nvGrpSpPr>
        <p:grpSpPr bwMode="auto">
          <a:xfrm>
            <a:off x="7381273" y="275438"/>
            <a:ext cx="847347" cy="1333054"/>
            <a:chOff x="6655594" y="273840"/>
            <a:chExt cx="830430" cy="1306516"/>
          </a:xfrm>
        </p:grpSpPr>
        <p:grpSp>
          <p:nvGrpSpPr>
            <p:cNvPr id="84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2" name="Oval 38"/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Arc 39"/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5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0" name="Oval 41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Arc 42"/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6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96" name="Oval 50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Oval 51"/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8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89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0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1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2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93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4" name="Oval 47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Arc 48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4" name="Slide Number"/>
          <p:cNvSpPr txBox="1">
            <a:spLocks/>
          </p:cNvSpPr>
          <p:nvPr/>
        </p:nvSpPr>
        <p:spPr bwMode="auto">
          <a:xfrm>
            <a:off x="8808763" y="6633336"/>
            <a:ext cx="160294" cy="15701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mtClean="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62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2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/>
          <p:cNvSpPr txBox="1"/>
          <p:nvPr/>
        </p:nvSpPr>
        <p:spPr>
          <a:xfrm>
            <a:off x="5192429" y="6619158"/>
            <a:ext cx="430212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255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55" lvl="1" indent="-192067" defTabSz="895255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151" lvl="2" indent="-261910" defTabSz="895255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298" lvl="3" indent="-155558" defTabSz="895255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728" lvl="4" indent="-130162" defTabSz="895255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buClr>
                <a:srgbClr val="000000"/>
              </a:buClr>
            </a:pPr>
            <a:r>
              <a:rPr lang="en-US" sz="1100" dirty="0">
                <a:solidFill>
                  <a:srgbClr val="FFFFFF"/>
                </a:solidFill>
              </a:rPr>
              <a:t>DRAFT Confidential – Proprietary and predecisional</a:t>
            </a:r>
          </a:p>
        </p:txBody>
      </p:sp>
    </p:spTree>
    <p:extLst>
      <p:ext uri="{BB962C8B-B14F-4D97-AF65-F5344CB8AC3E}">
        <p14:creationId xmlns:p14="http://schemas.microsoft.com/office/powerpoint/2010/main" val="2077313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913429" rtl="0" eaLnBrk="1" fontAlgn="base" hangingPunct="1">
        <a:spcBef>
          <a:spcPct val="0"/>
        </a:spcBef>
        <a:spcAft>
          <a:spcPct val="0"/>
        </a:spcAft>
        <a:tabLst>
          <a:tab pos="275324" algn="l"/>
        </a:tabLst>
        <a:defRPr sz="19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31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863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295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728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86" indent="-19596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431" indent="-267227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768" indent="-15871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31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86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95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728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159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59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022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45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9"/>
            </p:custDataLst>
            <p:extLst/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" name="think-cell Slide" r:id="rId25" imgW="270" imgH="270" progId="TCLayout.ActiveDocument.1">
                  <p:embed/>
                </p:oleObj>
              </mc:Choice>
              <mc:Fallback>
                <p:oleObj name="think-cell Slide" r:id="rId25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7"/>
          <p:cNvGrpSpPr/>
          <p:nvPr/>
        </p:nvGrpSpPr>
        <p:grpSpPr bwMode="ltGray">
          <a:xfrm>
            <a:off x="2" y="6565687"/>
            <a:ext cx="9143999" cy="292313"/>
            <a:chOff x="-476250" y="1078229"/>
            <a:chExt cx="9437688" cy="475297"/>
          </a:xfrm>
        </p:grpSpPr>
        <p:sp>
          <p:nvSpPr>
            <p:cNvPr id="59" name="TitleTopPlaceholder"/>
            <p:cNvSpPr>
              <a:spLocks noChangeArrowheads="1"/>
            </p:cNvSpPr>
            <p:nvPr/>
          </p:nvSpPr>
          <p:spPr bwMode="ltGray">
            <a:xfrm>
              <a:off x="1717675" y="1078230"/>
              <a:ext cx="2193925" cy="474345"/>
            </a:xfrm>
            <a:prstGeom prst="rect">
              <a:avLst/>
            </a:prstGeom>
            <a:solidFill>
              <a:schemeClr val="accent4">
                <a:alpha val="77000"/>
              </a:schemeClr>
            </a:solidFill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TitleTopPlaceholder"/>
            <p:cNvSpPr>
              <a:spLocks noChangeArrowheads="1"/>
            </p:cNvSpPr>
            <p:nvPr/>
          </p:nvSpPr>
          <p:spPr bwMode="ltGray">
            <a:xfrm>
              <a:off x="-476250" y="1078229"/>
              <a:ext cx="2193925" cy="474345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" name="TitleTopPlaceholder"/>
            <p:cNvSpPr>
              <a:spLocks noChangeArrowheads="1"/>
            </p:cNvSpPr>
            <p:nvPr/>
          </p:nvSpPr>
          <p:spPr bwMode="ltGray">
            <a:xfrm>
              <a:off x="3534567" y="1079181"/>
              <a:ext cx="5426871" cy="474345"/>
            </a:xfrm>
            <a:prstGeom prst="rect">
              <a:avLst/>
            </a:prstGeom>
            <a:solidFill>
              <a:srgbClr val="009900">
                <a:alpha val="69000"/>
              </a:srgbClr>
            </a:solidFill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2156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4945" y="234863"/>
            <a:ext cx="8053675" cy="29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174944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  <a:latin typeface="Arial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174944" y="542617"/>
            <a:ext cx="805367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2" name="Slide Elements" hidden="1"/>
          <p:cNvGrpSpPr>
            <a:grpSpLocks/>
          </p:cNvGrpSpPr>
          <p:nvPr/>
        </p:nvGrpSpPr>
        <p:grpSpPr bwMode="auto">
          <a:xfrm>
            <a:off x="174944" y="6086391"/>
            <a:ext cx="8799129" cy="413035"/>
            <a:chOff x="75" y="3895"/>
            <a:chExt cx="689" cy="255"/>
          </a:xfrm>
        </p:grpSpPr>
        <p:sp>
          <p:nvSpPr>
            <p:cNvPr id="13" name="4. Footnote"/>
            <p:cNvSpPr txBox="1">
              <a:spLocks noChangeArrowheads="1"/>
            </p:cNvSpPr>
            <p:nvPr/>
          </p:nvSpPr>
          <p:spPr bwMode="auto">
            <a:xfrm>
              <a:off x="75" y="3895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5. Source"/>
            <p:cNvSpPr>
              <a:spLocks noChangeArrowheads="1"/>
            </p:cNvSpPr>
            <p:nvPr/>
          </p:nvSpPr>
          <p:spPr bwMode="auto">
            <a:xfrm>
              <a:off x="75" y="4053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621910" indent="-621910" defTabSz="913429" fontAlgn="base">
                <a:spcBef>
                  <a:spcPct val="0"/>
                </a:spcBef>
                <a:spcAft>
                  <a:spcPct val="0"/>
                </a:spcAft>
                <a:tabLst>
                  <a:tab pos="625148" algn="l"/>
                </a:tabLst>
              </a:pPr>
              <a:r>
                <a:rPr lang="en-US" sz="1000" dirty="0">
                  <a:solidFill>
                    <a:srgbClr val="000000"/>
                  </a:solidFill>
                  <a:latin typeface="Arial"/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6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Title</a:t>
              </a: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  <a:latin typeface="Arial"/>
                </a:rPr>
                <a:t>Unit of measure</a:t>
              </a:r>
            </a:p>
          </p:txBody>
        </p:sp>
      </p:grpSp>
      <p:grpSp>
        <p:nvGrpSpPr>
          <p:cNvPr id="63" name="LegendBoxes" hidden="1"/>
          <p:cNvGrpSpPr>
            <a:grpSpLocks/>
          </p:cNvGrpSpPr>
          <p:nvPr/>
        </p:nvGrpSpPr>
        <p:grpSpPr bwMode="auto">
          <a:xfrm>
            <a:off x="7449476" y="275439"/>
            <a:ext cx="779144" cy="1017201"/>
            <a:chOff x="4936" y="176"/>
            <a:chExt cx="481" cy="628"/>
          </a:xfrm>
        </p:grpSpPr>
        <p:sp>
          <p:nvSpPr>
            <p:cNvPr id="64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65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67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69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71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" name="LegendLines" hidden="1"/>
          <p:cNvGrpSpPr>
            <a:grpSpLocks/>
          </p:cNvGrpSpPr>
          <p:nvPr/>
        </p:nvGrpSpPr>
        <p:grpSpPr bwMode="auto">
          <a:xfrm>
            <a:off x="7135228" y="275439"/>
            <a:ext cx="1093393" cy="745084"/>
            <a:chOff x="4750" y="176"/>
            <a:chExt cx="675" cy="460"/>
          </a:xfrm>
        </p:grpSpPr>
        <p:sp>
          <p:nvSpPr>
            <p:cNvPr id="73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12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77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78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</p:grpSp>
      <p:grpSp>
        <p:nvGrpSpPr>
          <p:cNvPr id="79" name="Sticker" hidden="1"/>
          <p:cNvGrpSpPr/>
          <p:nvPr/>
        </p:nvGrpSpPr>
        <p:grpSpPr bwMode="auto">
          <a:xfrm>
            <a:off x="7139991" y="275438"/>
            <a:ext cx="1088630" cy="216680"/>
            <a:chOff x="7673880" y="285750"/>
            <a:chExt cx="1066895" cy="212366"/>
          </a:xfrm>
        </p:grpSpPr>
        <p:sp>
          <p:nvSpPr>
            <p:cNvPr id="80" name="StickerRectangle"/>
            <p:cNvSpPr>
              <a:spLocks noChangeArrowheads="1"/>
            </p:cNvSpPr>
            <p:nvPr/>
          </p:nvSpPr>
          <p:spPr bwMode="auto">
            <a:xfrm>
              <a:off x="7673880" y="285750"/>
              <a:ext cx="1066895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808080"/>
                  </a:solidFill>
                  <a:latin typeface="Arial"/>
                </a:rPr>
                <a:t>PRELIMINARY</a:t>
              </a:r>
            </a:p>
          </p:txBody>
        </p:sp>
        <p:cxnSp>
          <p:nvCxnSpPr>
            <p:cNvPr id="81" name="AutoShape 31"/>
            <p:cNvCxnSpPr>
              <a:cxnSpLocks noChangeShapeType="1"/>
              <a:stCxn id="80" idx="2"/>
              <a:endCxn id="80" idx="4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2"/>
            <p:cNvCxnSpPr>
              <a:cxnSpLocks noChangeShapeType="1"/>
              <a:stCxn id="80" idx="4"/>
              <a:endCxn id="80" idx="6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" name="LegendMoons" hidden="1"/>
          <p:cNvGrpSpPr/>
          <p:nvPr/>
        </p:nvGrpSpPr>
        <p:grpSpPr bwMode="auto">
          <a:xfrm>
            <a:off x="7381273" y="275438"/>
            <a:ext cx="847347" cy="1333054"/>
            <a:chOff x="6655594" y="273840"/>
            <a:chExt cx="830430" cy="1306516"/>
          </a:xfrm>
        </p:grpSpPr>
        <p:grpSp>
          <p:nvGrpSpPr>
            <p:cNvPr id="84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2" name="Oval 38"/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" name="Arc 39"/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5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0" name="Oval 41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" name="Arc 42"/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6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7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96" name="Oval 50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7" name="Oval 51"/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88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89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90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91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92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grpSp>
          <p:nvGrpSpPr>
            <p:cNvPr id="93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4" name="Oval 47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5" name="Arc 48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04" name="Slide Number"/>
          <p:cNvSpPr txBox="1">
            <a:spLocks/>
          </p:cNvSpPr>
          <p:nvPr/>
        </p:nvSpPr>
        <p:spPr bwMode="auto">
          <a:xfrm>
            <a:off x="8808763" y="6633336"/>
            <a:ext cx="160294" cy="15701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mtClean="0">
                <a:solidFill>
                  <a:srgbClr val="FFFFFF"/>
                </a:solidFill>
                <a:latin typeface="Arial"/>
              </a:rPr>
              <a:pPr algn="r"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2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/>
          <p:cNvSpPr txBox="1"/>
          <p:nvPr/>
        </p:nvSpPr>
        <p:spPr>
          <a:xfrm>
            <a:off x="5192429" y="6619158"/>
            <a:ext cx="430212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255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55" lvl="1" indent="-192067" defTabSz="895255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151" lvl="2" indent="-261910" defTabSz="895255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298" lvl="3" indent="-155558" defTabSz="895255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728" lvl="4" indent="-130162" defTabSz="895255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DRAFT Confidential – Proprietary and predecisional</a:t>
            </a:r>
          </a:p>
        </p:txBody>
      </p:sp>
    </p:spTree>
    <p:extLst>
      <p:ext uri="{BB962C8B-B14F-4D97-AF65-F5344CB8AC3E}">
        <p14:creationId xmlns:p14="http://schemas.microsoft.com/office/powerpoint/2010/main" val="247789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hf hdr="0" ftr="0" dt="0"/>
  <p:txStyles>
    <p:titleStyle>
      <a:lvl1pPr algn="l" defTabSz="913429" rtl="0" eaLnBrk="1" fontAlgn="base" hangingPunct="1">
        <a:spcBef>
          <a:spcPct val="0"/>
        </a:spcBef>
        <a:spcAft>
          <a:spcPct val="0"/>
        </a:spcAft>
        <a:tabLst>
          <a:tab pos="275324" algn="l"/>
        </a:tabLst>
        <a:defRPr sz="19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31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863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295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728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86" indent="-19596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431" indent="-267227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768" indent="-15871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31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86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95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728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159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59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022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45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6.bin"/><Relationship Id="rId4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7.bin"/><Relationship Id="rId4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3796" y="1863410"/>
            <a:ext cx="5876046" cy="1292662"/>
          </a:xfrm>
        </p:spPr>
        <p:txBody>
          <a:bodyPr/>
          <a:lstStyle/>
          <a:p>
            <a:r>
              <a:rPr lang="en-US" sz="2800" dirty="0" smtClean="0">
                <a:solidFill>
                  <a:schemeClr val="tx1"/>
                </a:solidFill>
              </a:rPr>
              <a:t>MCO</a:t>
            </a:r>
            <a:r>
              <a:rPr lang="en-US" sz="2800" dirty="0" smtClean="0"/>
              <a:t>/Accountable Care Partnership Plan Encounter </a:t>
            </a:r>
            <a:r>
              <a:rPr lang="en-US" sz="2800" dirty="0"/>
              <a:t>Data </a:t>
            </a:r>
            <a:r>
              <a:rPr lang="en-US" sz="2800" dirty="0" smtClean="0"/>
              <a:t>Deduction Scorecard - NHP</a:t>
            </a:r>
            <a:endParaRPr lang="en-US" sz="2800" dirty="0"/>
          </a:p>
        </p:txBody>
      </p:sp>
      <p:sp>
        <p:nvSpPr>
          <p:cNvPr id="6" name="McK Date"/>
          <p:cNvSpPr txBox="1">
            <a:spLocks noChangeArrowheads="1"/>
          </p:cNvSpPr>
          <p:nvPr/>
        </p:nvSpPr>
        <p:spPr bwMode="auto">
          <a:xfrm>
            <a:off x="2693796" y="3843349"/>
            <a:ext cx="5036085" cy="220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4572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May 2018</a:t>
            </a:r>
            <a:endParaRPr lang="en-US" sz="1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423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Object 5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think-cell Slide" r:id="rId5" imgW="524" imgH="526" progId="TCLayout.ActiveDocument.1">
                  <p:embed/>
                </p:oleObj>
              </mc:Choice>
              <mc:Fallback>
                <p:oleObj name="think-cell Slide" r:id="rId5" imgW="524" imgH="5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FF0000"/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292388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28600" y="914400"/>
            <a:ext cx="8382000" cy="1369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marL="342900" lvl="0" indent="-342900">
              <a:lnSpc>
                <a:spcPct val="2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1400" dirty="0" smtClean="0"/>
              <a:t>Overview of encounter data deduction scorecard</a:t>
            </a:r>
          </a:p>
          <a:p>
            <a:pPr marL="342900" lvl="0" indent="-342900">
              <a:lnSpc>
                <a:spcPct val="2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1400" dirty="0" smtClean="0"/>
              <a:t>Discuss process and implementation</a:t>
            </a:r>
          </a:p>
          <a:p>
            <a:pPr marL="342900" lvl="0" indent="-342900">
              <a:lnSpc>
                <a:spcPct val="2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1400" dirty="0" smtClean="0"/>
              <a:t>Review scorecard benchmarks against historical data for informational purposes</a:t>
            </a:r>
          </a:p>
        </p:txBody>
      </p:sp>
    </p:spTree>
    <p:extLst>
      <p:ext uri="{BB962C8B-B14F-4D97-AF65-F5344CB8AC3E}">
        <p14:creationId xmlns:p14="http://schemas.microsoft.com/office/powerpoint/2010/main" val="32658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Object 5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1" name="think-cell Slide" r:id="rId5" imgW="524" imgH="526" progId="TCLayout.ActiveDocument.1">
                  <p:embed/>
                </p:oleObj>
              </mc:Choice>
              <mc:Fallback>
                <p:oleObj name="think-cell Slide" r:id="rId5" imgW="524" imgH="5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FF0000"/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Rectangle 41"/>
          <p:cNvSpPr>
            <a:spLocks/>
          </p:cNvSpPr>
          <p:nvPr/>
        </p:nvSpPr>
        <p:spPr bwMode="auto">
          <a:xfrm>
            <a:off x="4632469" y="2438400"/>
            <a:ext cx="429008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miter lim="800000"/>
            <a:headEnd/>
            <a:tailEnd/>
          </a:ln>
          <a:effectLst/>
          <a:extLst/>
        </p:spPr>
        <p:txBody>
          <a:bodyPr wrap="non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43" name="Rectangle 42"/>
          <p:cNvSpPr>
            <a:spLocks/>
          </p:cNvSpPr>
          <p:nvPr/>
        </p:nvSpPr>
        <p:spPr bwMode="auto">
          <a:xfrm>
            <a:off x="4632469" y="2438400"/>
            <a:ext cx="4290080" cy="360850"/>
          </a:xfrm>
          <a:prstGeom prst="rect">
            <a:avLst/>
          </a:prstGeom>
          <a:solidFill>
            <a:schemeClr val="accent4"/>
          </a:solidFill>
          <a:ln w="19050">
            <a:noFill/>
            <a:miter lim="800000"/>
            <a:headEnd/>
            <a:tailEnd/>
          </a:ln>
          <a:effectLst/>
          <a:extLst/>
        </p:spPr>
        <p:txBody>
          <a:bodyPr wrap="square" lIns="72000" tIns="72000" rIns="72000" bIns="72000" rtlCol="0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solidFill>
                  <a:schemeClr val="bg1"/>
                </a:solidFill>
              </a:rPr>
              <a:t>Completeness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7" name="Rectangle 56"/>
          <p:cNvSpPr>
            <a:spLocks/>
          </p:cNvSpPr>
          <p:nvPr/>
        </p:nvSpPr>
        <p:spPr bwMode="auto">
          <a:xfrm>
            <a:off x="221452" y="2438400"/>
            <a:ext cx="4290080" cy="1371600"/>
          </a:xfrm>
          <a:custGeom>
            <a:avLst/>
            <a:gdLst>
              <a:gd name="connsiteX0" fmla="*/ 0 w 4218492"/>
              <a:gd name="connsiteY0" fmla="*/ 0 h 5441882"/>
              <a:gd name="connsiteX1" fmla="*/ 4218492 w 4218492"/>
              <a:gd name="connsiteY1" fmla="*/ 0 h 5441882"/>
              <a:gd name="connsiteX2" fmla="*/ 4218492 w 4218492"/>
              <a:gd name="connsiteY2" fmla="*/ 5441882 h 5441882"/>
              <a:gd name="connsiteX3" fmla="*/ 0 w 4218492"/>
              <a:gd name="connsiteY3" fmla="*/ 5441882 h 5441882"/>
              <a:gd name="connsiteX4" fmla="*/ 0 w 4218492"/>
              <a:gd name="connsiteY4" fmla="*/ 0 h 5441882"/>
              <a:gd name="connsiteX0" fmla="*/ 0 w 4218492"/>
              <a:gd name="connsiteY0" fmla="*/ 0 h 5441882"/>
              <a:gd name="connsiteX1" fmla="*/ 4218492 w 4218492"/>
              <a:gd name="connsiteY1" fmla="*/ 0 h 5441882"/>
              <a:gd name="connsiteX2" fmla="*/ 4218339 w 4218492"/>
              <a:gd name="connsiteY2" fmla="*/ 2676581 h 5441882"/>
              <a:gd name="connsiteX3" fmla="*/ 4218492 w 4218492"/>
              <a:gd name="connsiteY3" fmla="*/ 5441882 h 5441882"/>
              <a:gd name="connsiteX4" fmla="*/ 0 w 4218492"/>
              <a:gd name="connsiteY4" fmla="*/ 5441882 h 5441882"/>
              <a:gd name="connsiteX5" fmla="*/ 0 w 4218492"/>
              <a:gd name="connsiteY5" fmla="*/ 0 h 5441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8492" h="5441882">
                <a:moveTo>
                  <a:pt x="0" y="0"/>
                </a:moveTo>
                <a:lnTo>
                  <a:pt x="4218492" y="0"/>
                </a:lnTo>
                <a:lnTo>
                  <a:pt x="4218339" y="2676581"/>
                </a:lnTo>
                <a:lnTo>
                  <a:pt x="4218492" y="5441882"/>
                </a:lnTo>
                <a:lnTo>
                  <a:pt x="0" y="544188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4"/>
            </a:solidFill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65" name="Rectangle 64"/>
          <p:cNvSpPr>
            <a:spLocks/>
          </p:cNvSpPr>
          <p:nvPr/>
        </p:nvSpPr>
        <p:spPr bwMode="auto">
          <a:xfrm>
            <a:off x="221452" y="2438400"/>
            <a:ext cx="4290080" cy="360850"/>
          </a:xfrm>
          <a:prstGeom prst="rect">
            <a:avLst/>
          </a:prstGeom>
          <a:solidFill>
            <a:schemeClr val="accent4"/>
          </a:solidFill>
          <a:ln w="19050">
            <a:noFill/>
            <a:miter lim="800000"/>
            <a:headEnd/>
            <a:tailEnd/>
          </a:ln>
          <a:effectLst/>
          <a:extLst/>
        </p:spPr>
        <p:txBody>
          <a:bodyPr wrap="square" lIns="72000" tIns="72000" rIns="72000" bIns="72000" rtlCol="0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solidFill>
                  <a:schemeClr val="bg1"/>
                </a:solidFill>
              </a:rPr>
              <a:t>Timeliness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4730957" y="2863933"/>
            <a:ext cx="409310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lvl="1">
              <a:spcBef>
                <a:spcPts val="700"/>
              </a:spcBef>
            </a:pPr>
            <a:r>
              <a:rPr lang="en-US" sz="1400" b="1" dirty="0"/>
              <a:t>Definition</a:t>
            </a:r>
            <a:r>
              <a:rPr lang="en-US" sz="1400" dirty="0"/>
              <a:t>: </a:t>
            </a:r>
            <a:r>
              <a:rPr lang="en-US" sz="1400" dirty="0" smtClean="0"/>
              <a:t>For specific encounter data field, are the required field values complete? 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302010" y="2858316"/>
            <a:ext cx="409310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lvl="1">
              <a:spcBef>
                <a:spcPts val="700"/>
              </a:spcBef>
            </a:pPr>
            <a:r>
              <a:rPr lang="en-US" sz="1400" b="1" dirty="0" smtClean="0"/>
              <a:t>Definition</a:t>
            </a:r>
            <a:r>
              <a:rPr lang="en-US" sz="1400" dirty="0" smtClean="0"/>
              <a:t>: Is plan submitting encounter data files to MassHealth in accordance with time requirements per contract?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584775"/>
          </a:xfrm>
        </p:spPr>
        <p:txBody>
          <a:bodyPr/>
          <a:lstStyle/>
          <a:p>
            <a:r>
              <a:rPr lang="en-US" dirty="0" smtClean="0"/>
              <a:t>To monitor encounter data integrity, MassHealth will produce monthly scorecard based on timeliness and completeness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81000" y="914400"/>
            <a:ext cx="8382000" cy="1408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marL="285750" lvl="0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MCOs/ACPPs </a:t>
            </a:r>
            <a:r>
              <a:rPr lang="en-US" sz="1400" dirty="0"/>
              <a:t> (Accountable Care Partnership </a:t>
            </a:r>
            <a:r>
              <a:rPr lang="en-US" sz="1400" dirty="0" smtClean="0"/>
              <a:t>Plan) will submit </a:t>
            </a:r>
            <a:r>
              <a:rPr lang="en-US" sz="1400" dirty="0"/>
              <a:t>paid encounter data each month via </a:t>
            </a:r>
            <a:r>
              <a:rPr lang="en-US" sz="1400" dirty="0" smtClean="0"/>
              <a:t>usual submission </a:t>
            </a:r>
            <a:r>
              <a:rPr lang="en-US" sz="1400" dirty="0"/>
              <a:t>process</a:t>
            </a:r>
          </a:p>
          <a:p>
            <a:pPr marL="285750" lvl="0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After 3 months of run out, </a:t>
            </a:r>
            <a:r>
              <a:rPr lang="en-US" sz="1400" dirty="0"/>
              <a:t>a scorecard will be generated detailing performance by </a:t>
            </a:r>
            <a:r>
              <a:rPr lang="en-US" sz="1400" dirty="0" smtClean="0"/>
              <a:t>dates of service, in terms of timeliness and completeness benchmarks</a:t>
            </a:r>
          </a:p>
          <a:p>
            <a:pPr marL="483336" lvl="1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Scorecards will be MCO or ACPP-specific</a:t>
            </a:r>
          </a:p>
          <a:p>
            <a:pPr marL="285750" lvl="0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Data is assessed on the following criteria: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038600"/>
            <a:ext cx="8382000" cy="11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marL="285750" lvl="0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For missed completeness benchmarks, MCOs/ACPPs </a:t>
            </a:r>
            <a:r>
              <a:rPr lang="en-US" sz="1400" dirty="0"/>
              <a:t>will submit </a:t>
            </a:r>
            <a:r>
              <a:rPr lang="en-US" sz="1400" dirty="0" smtClean="0"/>
              <a:t>corrections specific to that month’s encounter data in next regular submission opportunity</a:t>
            </a:r>
          </a:p>
          <a:p>
            <a:pPr marL="285750" lvl="0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Subsequent monthly scorecards will trend benchmark improvements until all benchmarks are in compliance with thresholds, up to 12 months</a:t>
            </a:r>
          </a:p>
          <a:p>
            <a:pPr marL="285750" lvl="0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118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Object 5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name="think-cell Slide" r:id="rId5" imgW="524" imgH="526" progId="TCLayout.ActiveDocument.1">
                  <p:embed/>
                </p:oleObj>
              </mc:Choice>
              <mc:Fallback>
                <p:oleObj name="think-cell Slide" r:id="rId5" imgW="524" imgH="5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FF0000"/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4945" y="234863"/>
            <a:ext cx="8511855" cy="877163"/>
          </a:xfrm>
        </p:spPr>
        <p:txBody>
          <a:bodyPr/>
          <a:lstStyle/>
          <a:p>
            <a:r>
              <a:rPr lang="en-US" dirty="0" smtClean="0"/>
              <a:t>To ensure compliance, monthly capitation payments are subject to deduction when benchmarks remain below threshold after 3 scorecards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81000" y="914400"/>
            <a:ext cx="8382000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marL="285750" lvl="0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For each set of monthly encounter data, scorecard will show benchmark performance 3 times before deductions are determined.</a:t>
            </a:r>
          </a:p>
          <a:p>
            <a:pPr marL="483336" lvl="1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Scorecard accounts </a:t>
            </a:r>
            <a:r>
              <a:rPr lang="en-US" sz="1400" dirty="0"/>
              <a:t>for 3 months claims run </a:t>
            </a:r>
            <a:r>
              <a:rPr lang="en-US" sz="1400" dirty="0" smtClean="0"/>
              <a:t>out</a:t>
            </a:r>
          </a:p>
          <a:p>
            <a:pPr marL="483336" lvl="1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After claims run out, scorecard will show performance for that month’s encounter data for 3 iterations</a:t>
            </a:r>
          </a:p>
          <a:p>
            <a:pPr marL="752181" lvl="2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MCOs/ACPPs  need to submit corrections to address missed benchmarks</a:t>
            </a:r>
          </a:p>
          <a:p>
            <a:pPr marL="483336" lvl="1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At 4</a:t>
            </a:r>
            <a:r>
              <a:rPr lang="en-US" sz="1400" baseline="30000" dirty="0" smtClean="0"/>
              <a:t>th</a:t>
            </a:r>
            <a:r>
              <a:rPr lang="en-US" sz="1400" dirty="0" smtClean="0"/>
              <a:t> iteration, MassHealth will assess deductions based on missed benchmarks</a:t>
            </a:r>
          </a:p>
          <a:p>
            <a:pPr marL="752181" lvl="2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Timeliness benchmarks are informational only and not subject to deduction</a:t>
            </a:r>
          </a:p>
          <a:p>
            <a:pPr marL="752181" lvl="2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For each completeness benchmark below threshold value, </a:t>
            </a:r>
            <a:r>
              <a:rPr lang="en-US" sz="1400" dirty="0"/>
              <a:t>0.4% deduction will be </a:t>
            </a:r>
            <a:r>
              <a:rPr lang="en-US" sz="1400" dirty="0" smtClean="0"/>
              <a:t>applied to monthly capitation payment corresponding to month of service, up to </a:t>
            </a:r>
            <a:r>
              <a:rPr lang="en-US" sz="1400" dirty="0"/>
              <a:t>maximum 2</a:t>
            </a:r>
            <a:r>
              <a:rPr lang="en-US" sz="1400" dirty="0" smtClean="0"/>
              <a:t>%</a:t>
            </a:r>
          </a:p>
          <a:p>
            <a:pPr marL="285750" lvl="0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Deductions will be executed semi-annually, in January and July</a:t>
            </a:r>
          </a:p>
          <a:p>
            <a:pPr marL="285750" lvl="0" indent="-28575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−"/>
            </a:pPr>
            <a:r>
              <a:rPr lang="en-US" sz="1400" dirty="0" smtClean="0"/>
              <a:t>Once missed benchmarks are corrected, deduction for specific month will be returned at start of next quarter as part of capitation payment</a:t>
            </a:r>
            <a:endParaRPr lang="en-US" sz="1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692123"/>
              </p:ext>
            </p:extLst>
          </p:nvPr>
        </p:nvGraphicFramePr>
        <p:xfrm>
          <a:off x="228601" y="4606873"/>
          <a:ext cx="8686798" cy="1511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3045"/>
                <a:gridCol w="873045"/>
                <a:gridCol w="873045"/>
                <a:gridCol w="873045"/>
                <a:gridCol w="873045"/>
                <a:gridCol w="873045"/>
                <a:gridCol w="873045"/>
                <a:gridCol w="873045"/>
                <a:gridCol w="829393"/>
                <a:gridCol w="873045"/>
              </a:tblGrid>
              <a:tr h="368987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Apr '18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May '18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Jun '18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Jul '18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Aug '18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Sep '18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Oct '18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Nov '18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Dec '18 and beyond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" marR="6858" marT="6858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276225" y="5124741"/>
            <a:ext cx="7620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i="1" dirty="0" smtClean="0">
                <a:solidFill>
                  <a:srgbClr val="000000"/>
                </a:solidFill>
                <a:latin typeface="Arial"/>
              </a:rPr>
              <a:t>March ‘18 Encounter Data</a:t>
            </a:r>
            <a:endParaRPr lang="en-US" sz="1000" b="1" i="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066800" y="5400966"/>
            <a:ext cx="7772400" cy="0"/>
          </a:xfrm>
          <a:prstGeom prst="straightConnector1">
            <a:avLst/>
          </a:prstGeom>
          <a:ln w="5715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auto">
          <a:xfrm>
            <a:off x="1143000" y="5270473"/>
            <a:ext cx="76200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solidFill>
                  <a:srgbClr val="000000"/>
                </a:solidFill>
                <a:latin typeface="Arial"/>
              </a:rPr>
              <a:t>Data submitted</a:t>
            </a:r>
            <a:endParaRPr lang="en-US" sz="1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362200" y="5293333"/>
            <a:ext cx="1828800" cy="228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solidFill>
                  <a:srgbClr val="000000"/>
                </a:solidFill>
                <a:latin typeface="Arial"/>
              </a:rPr>
              <a:t>3 months run out</a:t>
            </a:r>
            <a:endParaRPr lang="en-US" sz="1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5867400" y="5293333"/>
            <a:ext cx="1828800" cy="228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solidFill>
                  <a:srgbClr val="000000"/>
                </a:solidFill>
                <a:latin typeface="Arial"/>
              </a:rPr>
              <a:t>Data corrections submitted</a:t>
            </a:r>
            <a:endParaRPr lang="en-US" sz="1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7315200" y="5477166"/>
            <a:ext cx="685800" cy="5486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solidFill>
                  <a:srgbClr val="000000"/>
                </a:solidFill>
                <a:latin typeface="Arial"/>
              </a:rPr>
              <a:t>Determine deduction, if any</a:t>
            </a:r>
            <a:endParaRPr lang="en-US" sz="1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5029200" y="5016156"/>
            <a:ext cx="1828800" cy="32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solidFill>
                  <a:srgbClr val="000000"/>
                </a:solidFill>
                <a:latin typeface="Arial"/>
              </a:rPr>
              <a:t>3 scorecards shared with benchmark performance</a:t>
            </a:r>
            <a:endParaRPr lang="en-US" sz="1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8115300" y="5448591"/>
            <a:ext cx="731520" cy="64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solidFill>
                  <a:srgbClr val="000000"/>
                </a:solidFill>
                <a:latin typeface="Arial"/>
              </a:rPr>
              <a:t>Return deduction, after data corrections</a:t>
            </a:r>
            <a:endParaRPr lang="en-US" sz="1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" y="4419600"/>
            <a:ext cx="312420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lvl="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</a:pPr>
            <a:r>
              <a:rPr lang="en-US" sz="1200" b="1" dirty="0" smtClean="0"/>
              <a:t>Timeline for March ‘18 Encounter Data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9691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292388"/>
          </a:xfrm>
        </p:spPr>
        <p:txBody>
          <a:bodyPr/>
          <a:lstStyle/>
          <a:p>
            <a:r>
              <a:rPr lang="en-US" dirty="0" smtClean="0"/>
              <a:t>Schedule of encounter data reporting in scorecard</a:t>
            </a:r>
            <a:endParaRPr lang="en-US" strike="sngStrike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69465"/>
              </p:ext>
            </p:extLst>
          </p:nvPr>
        </p:nvGraphicFramePr>
        <p:xfrm>
          <a:off x="1143000" y="1182961"/>
          <a:ext cx="6858000" cy="3701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2286000"/>
                <a:gridCol w="2286000"/>
              </a:tblGrid>
              <a:tr h="5205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Encounter Data </a:t>
                      </a:r>
                      <a:br>
                        <a:rPr lang="en-US" sz="12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Dates of Service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sz="1200" b="1" baseline="30000" dirty="0" smtClean="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 Appearance </a:t>
                      </a:r>
                      <a:br>
                        <a:rPr lang="en-US" sz="12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in Scorecard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en-US" sz="1200" b="1" baseline="30000" dirty="0" smtClean="0">
                          <a:solidFill>
                            <a:schemeClr val="bg1"/>
                          </a:solidFill>
                        </a:rPr>
                        <a:t>th</a:t>
                      </a:r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 Appearance in Scorecard; d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</a:rPr>
                        <a:t>eduction calculated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3/1/18 - 3/31/18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 smtClean="0"/>
                        <a:t>Aug </a:t>
                      </a:r>
                      <a:r>
                        <a:rPr lang="en-US" sz="1200" dirty="0" smtClean="0"/>
                        <a:t>2018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Nov 2018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4/1/18 - 4/30/18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Sep 2018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Dec 2018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5/1/18 - 5/31/18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 smtClean="0"/>
                        <a:t>Oct </a:t>
                      </a:r>
                      <a:r>
                        <a:rPr lang="en-US" sz="1200" dirty="0" smtClean="0"/>
                        <a:t>2018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Jan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6/1/18 - 6/30/18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Nov 2018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Feb</a:t>
                      </a:r>
                      <a:r>
                        <a:rPr lang="en-US" sz="1200" baseline="0" dirty="0" smtClean="0"/>
                        <a:t>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7/1/18 - 7/31/18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Dec 2018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Mar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8/1/18 - 8/31/18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Jan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Apr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9/1/18 - 9/30/18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Feb</a:t>
                      </a:r>
                      <a:r>
                        <a:rPr lang="en-US" sz="1200" baseline="0" dirty="0" smtClean="0"/>
                        <a:t>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May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10/1/18 - 10/31/18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Mar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Jun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11/1/18 - 11/30/18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Apr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Jul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6179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12/1/18 - 12/31/18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May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Aug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Right Arrow 4"/>
          <p:cNvSpPr/>
          <p:nvPr/>
        </p:nvSpPr>
        <p:spPr bwMode="auto">
          <a:xfrm>
            <a:off x="3124200" y="1314450"/>
            <a:ext cx="609600" cy="381000"/>
          </a:xfrm>
          <a:prstGeom prst="rightArrow">
            <a:avLst>
              <a:gd name="adj1" fmla="val 40000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  <a:ln w="57150">
            <a:noFill/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ight Arrow 19"/>
          <p:cNvSpPr/>
          <p:nvPr/>
        </p:nvSpPr>
        <p:spPr bwMode="auto">
          <a:xfrm>
            <a:off x="5410200" y="1314450"/>
            <a:ext cx="609600" cy="381000"/>
          </a:xfrm>
          <a:prstGeom prst="rightArrow">
            <a:avLst>
              <a:gd name="adj1" fmla="val 40000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  <a:ln w="57150">
            <a:noFill/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004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292388"/>
          </a:xfrm>
        </p:spPr>
        <p:txBody>
          <a:bodyPr/>
          <a:lstStyle/>
          <a:p>
            <a:r>
              <a:rPr lang="en-US" dirty="0" smtClean="0"/>
              <a:t>Example of deduction calculation and execution</a:t>
            </a:r>
            <a:endParaRPr lang="en-US" strike="sngStrike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742751"/>
              </p:ext>
            </p:extLst>
          </p:nvPr>
        </p:nvGraphicFramePr>
        <p:xfrm>
          <a:off x="152400" y="1143000"/>
          <a:ext cx="5212080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1280160"/>
                <a:gridCol w="1280160"/>
                <a:gridCol w="1280160"/>
              </a:tblGrid>
              <a:tr h="2743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i="0" dirty="0" smtClean="0">
                          <a:solidFill>
                            <a:schemeClr val="bg1"/>
                          </a:solidFill>
                        </a:rPr>
                        <a:t> Encounter Data Deduction Scorecard</a:t>
                      </a:r>
                      <a:r>
                        <a:rPr lang="en-US" sz="1200" b="1" i="0" baseline="0" dirty="0" smtClean="0">
                          <a:solidFill>
                            <a:schemeClr val="bg1"/>
                          </a:solidFill>
                        </a:rPr>
                        <a:t> Schedule </a:t>
                      </a:r>
                      <a:br>
                        <a:rPr lang="en-US" sz="1200" b="1" i="0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i="1" baseline="0" dirty="0" smtClean="0">
                          <a:solidFill>
                            <a:schemeClr val="bg1"/>
                          </a:solidFill>
                        </a:rPr>
                        <a:t>(t = Jul 2019)</a:t>
                      </a:r>
                      <a:endParaRPr lang="en-US" sz="120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520505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Encounter Data </a:t>
                      </a:r>
                      <a:br>
                        <a:rPr lang="en-US" sz="11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Month of Service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Scorecard for</a:t>
                      </a:r>
                      <a: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  <a:t> Deduction Determination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Missed Completeness Benchmarks </a:t>
                      </a:r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sz="11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(% Deduction)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Deduction</a:t>
                      </a:r>
                      <a: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  <a:t>Amount </a:t>
                      </a:r>
                      <a:b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000" b="1" i="1" baseline="0" dirty="0" smtClean="0">
                          <a:solidFill>
                            <a:schemeClr val="bg1"/>
                          </a:solidFill>
                        </a:rPr>
                        <a:t>(amounts are Illustrative)</a:t>
                      </a:r>
                      <a:endParaRPr lang="en-US" sz="100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5/1/18 - 5/31/18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Jan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/>
                        <a:t>1 (0.4%)</a:t>
                      </a:r>
                      <a:endParaRPr lang="en-US" sz="1200" dirty="0" smtClean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$100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6/1/18 - 6/30/18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Feb</a:t>
                      </a:r>
                      <a:r>
                        <a:rPr lang="en-US" sz="1200" baseline="0" dirty="0" smtClean="0"/>
                        <a:t>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 (0.4%)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$100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7/1/18 - 7/31/18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Mar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 smtClean="0"/>
                        <a:t>6 (2.0%)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$500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8/1/18 - 8/31/18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Apr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 (0.4%)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$100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9/1/18 - 9/30/18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May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 (0.4%)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$100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10/1/18 - 10/31/18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Jun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2 (0.8%)</a:t>
                      </a:r>
                      <a:endParaRPr lang="en-US" sz="1200" dirty="0" smtClean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$200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948282"/>
              </p:ext>
            </p:extLst>
          </p:nvPr>
        </p:nvGraphicFramePr>
        <p:xfrm>
          <a:off x="5791200" y="1143000"/>
          <a:ext cx="3017520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1645920"/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Capitation Payment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</a:rPr>
                        <a:t> Schedule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Capitation Payment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US" sz="1200" b="1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</a:rPr>
                        <a:t>Month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Impact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Jan 2019</a:t>
                      </a:r>
                      <a:r>
                        <a:rPr lang="en-US" sz="1200" baseline="0" dirty="0" smtClean="0"/>
                        <a:t> – </a:t>
                      </a:r>
                      <a:br>
                        <a:rPr lang="en-US" sz="1200" baseline="0" dirty="0" smtClean="0"/>
                      </a:br>
                      <a:r>
                        <a:rPr lang="en-US" sz="1200" baseline="0" dirty="0" smtClean="0"/>
                        <a:t>Jun 2019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No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Jul 2019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Yes - </a:t>
                      </a:r>
                      <a:br>
                        <a:rPr lang="en-US" sz="1200" dirty="0" smtClean="0"/>
                      </a:br>
                      <a:r>
                        <a:rPr lang="en-US" sz="1200" dirty="0" smtClean="0"/>
                        <a:t>$900</a:t>
                      </a:r>
                      <a:r>
                        <a:rPr lang="en-US" sz="1200" baseline="0" dirty="0" smtClean="0"/>
                        <a:t> deduction applied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10" name="Elbow Connector 9"/>
          <p:cNvCxnSpPr>
            <a:stCxn id="11" idx="3"/>
            <a:endCxn id="15" idx="1"/>
          </p:cNvCxnSpPr>
          <p:nvPr/>
        </p:nvCxnSpPr>
        <p:spPr>
          <a:xfrm flipV="1">
            <a:off x="5372100" y="2705100"/>
            <a:ext cx="400050" cy="15621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 bwMode="auto">
          <a:xfrm>
            <a:off x="5772150" y="2514600"/>
            <a:ext cx="3048000" cy="381000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dash"/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19050" y="2895600"/>
            <a:ext cx="228600" cy="228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4572000"/>
            <a:ext cx="83820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marL="342900" lvl="0" indent="-34290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1400" dirty="0" smtClean="0"/>
              <a:t>Deductions are determined Jan ’19 through Jun ‘19 due to missed benchmarks, totaling </a:t>
            </a:r>
            <a:r>
              <a:rPr lang="en-US" sz="1400" dirty="0" smtClean="0"/>
              <a:t>$1100</a:t>
            </a:r>
            <a:endParaRPr lang="en-US" sz="1400" dirty="0" smtClean="0"/>
          </a:p>
          <a:p>
            <a:pPr marL="540486" lvl="1" indent="-34290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</a:pPr>
            <a:r>
              <a:rPr lang="en-US" sz="1400" dirty="0" smtClean="0"/>
              <a:t>For Mar ‘19 determination, deduction is capped at 2.0%, per contract</a:t>
            </a:r>
          </a:p>
          <a:p>
            <a:pPr marL="342900" lvl="0" indent="-34290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1400" dirty="0" smtClean="0"/>
              <a:t>Since deductions are executed semi-annually, $900 deduction is applied to Jul ‘19 monthly capitation </a:t>
            </a:r>
            <a:r>
              <a:rPr lang="en-US" sz="1400" dirty="0" smtClean="0"/>
              <a:t>payment</a:t>
            </a:r>
          </a:p>
          <a:p>
            <a:pPr marL="342900" lvl="0" indent="-34290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sz="1400" dirty="0" smtClean="0"/>
              <a:t>Because only </a:t>
            </a:r>
            <a:r>
              <a:rPr lang="en-US" sz="1400" dirty="0" smtClean="0"/>
              <a:t>5 monthly deductions are allowed, </a:t>
            </a:r>
            <a:r>
              <a:rPr lang="en-US" sz="1400" dirty="0" smtClean="0"/>
              <a:t>Jun ‘19 scorecard deduction is </a:t>
            </a:r>
            <a:r>
              <a:rPr lang="en-US" sz="1400" dirty="0" smtClean="0"/>
              <a:t>not applied</a:t>
            </a:r>
          </a:p>
          <a:p>
            <a:pPr marL="540486" lvl="1" indent="-34290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</a:pPr>
            <a:r>
              <a:rPr lang="en-US" sz="1400" dirty="0" smtClean="0"/>
              <a:t>Once there are less than 5 active deductions, this deduction will be applied</a:t>
            </a:r>
            <a:endParaRPr lang="en-US" sz="14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152400" y="3869323"/>
            <a:ext cx="838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000" i="1" dirty="0"/>
              <a:t>Deductions occur semi-annually, in January and July</a:t>
            </a: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000" i="1" dirty="0" smtClean="0"/>
              <a:t>Deduction </a:t>
            </a:r>
            <a:r>
              <a:rPr lang="en-US" sz="1000" i="1" dirty="0"/>
              <a:t>returns occur at start of next quarter</a:t>
            </a:r>
            <a:endParaRPr lang="en-US" sz="1000" i="1" dirty="0" smtClean="0"/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000" i="1" dirty="0" smtClean="0"/>
              <a:t>No more than 5 monthly deductions can be applied at a given time </a:t>
            </a:r>
            <a:endParaRPr lang="en-US" sz="1000" i="1" dirty="0"/>
          </a:p>
        </p:txBody>
      </p:sp>
      <p:cxnSp>
        <p:nvCxnSpPr>
          <p:cNvPr id="23" name="Elbow Connector 22"/>
          <p:cNvCxnSpPr/>
          <p:nvPr/>
        </p:nvCxnSpPr>
        <p:spPr>
          <a:xfrm rot="5400000" flipH="1" flipV="1">
            <a:off x="5255895" y="3354705"/>
            <a:ext cx="461010" cy="152400"/>
          </a:xfrm>
          <a:prstGeom prst="bentConnector3">
            <a:avLst>
              <a:gd name="adj1" fmla="val 2066"/>
            </a:avLst>
          </a:prstGeom>
          <a:ln w="38100">
            <a:solidFill>
              <a:schemeClr val="bg1">
                <a:lumMod val="65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 bwMode="auto">
          <a:xfrm>
            <a:off x="2819400" y="3550920"/>
            <a:ext cx="2552700" cy="266700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819400" y="2194560"/>
            <a:ext cx="2552700" cy="1333500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dash"/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5257800" y="2743200"/>
            <a:ext cx="228600" cy="228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Arial"/>
              </a:rPr>
              <a:t>2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5471160" y="3009900"/>
            <a:ext cx="182880" cy="18288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5471160" y="3009900"/>
            <a:ext cx="182880" cy="18288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 bwMode="auto">
          <a:xfrm>
            <a:off x="5715000" y="3048000"/>
            <a:ext cx="228600" cy="228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3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50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292388"/>
          </a:xfrm>
        </p:spPr>
        <p:txBody>
          <a:bodyPr/>
          <a:lstStyle/>
          <a:p>
            <a:r>
              <a:rPr lang="en-US" dirty="0" smtClean="0"/>
              <a:t>Example of deduction return</a:t>
            </a:r>
            <a:endParaRPr lang="en-US" strike="sngStrike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686755"/>
              </p:ext>
            </p:extLst>
          </p:nvPr>
        </p:nvGraphicFramePr>
        <p:xfrm>
          <a:off x="152400" y="1143000"/>
          <a:ext cx="5212080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1280160"/>
                <a:gridCol w="1280160"/>
                <a:gridCol w="1280160"/>
              </a:tblGrid>
              <a:tr h="2743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i="0" dirty="0" smtClean="0">
                          <a:solidFill>
                            <a:schemeClr val="bg1"/>
                          </a:solidFill>
                        </a:rPr>
                        <a:t> Encounter Data Deduction Scorecard</a:t>
                      </a:r>
                      <a:r>
                        <a:rPr lang="en-US" sz="1200" b="1" i="0" baseline="0" dirty="0" smtClean="0">
                          <a:solidFill>
                            <a:schemeClr val="bg1"/>
                          </a:solidFill>
                        </a:rPr>
                        <a:t> Schedule </a:t>
                      </a:r>
                      <a:br>
                        <a:rPr lang="en-US" sz="1200" b="1" i="0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i="1" baseline="0" dirty="0" smtClean="0">
                          <a:solidFill>
                            <a:schemeClr val="bg1"/>
                          </a:solidFill>
                        </a:rPr>
                        <a:t>(t = Sep 2019)</a:t>
                      </a:r>
                      <a:endParaRPr lang="en-US" sz="120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520505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Encounter Data </a:t>
                      </a:r>
                      <a:br>
                        <a:rPr lang="en-US" sz="11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Month of Service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Scorecard for</a:t>
                      </a:r>
                      <a: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  <a:t> Deduction Determination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Missed Completeness Benchmarks </a:t>
                      </a:r>
                      <a:br>
                        <a:rPr lang="en-US" sz="11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(% Deduction)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Deduction</a:t>
                      </a:r>
                      <a: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  <a:t>Amount </a:t>
                      </a:r>
                      <a:br>
                        <a:rPr lang="en-US" sz="1100" b="1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000" b="1" i="1" baseline="0" dirty="0" smtClean="0">
                          <a:solidFill>
                            <a:schemeClr val="bg1"/>
                          </a:solidFill>
                        </a:rPr>
                        <a:t>(amounts are Illustrative)</a:t>
                      </a:r>
                      <a:endParaRPr lang="en-US" sz="100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5/1/18 - 5/31/18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Jan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sngStrike" dirty="0" smtClean="0"/>
                        <a:t>1 (0.4%)</a:t>
                      </a:r>
                      <a:r>
                        <a:rPr lang="en-US" sz="1200" dirty="0" smtClean="0"/>
                        <a:t>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trike="sngStrike" dirty="0" smtClean="0"/>
                        <a:t>$100</a:t>
                      </a:r>
                      <a:r>
                        <a:rPr lang="en-US" sz="1200" dirty="0" smtClean="0"/>
                        <a:t> $0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6/1/18 - 6/30/18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Feb</a:t>
                      </a:r>
                      <a:r>
                        <a:rPr lang="en-US" sz="1200" baseline="0" dirty="0" smtClean="0"/>
                        <a:t>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sngStrike" dirty="0" smtClean="0"/>
                        <a:t>1 (0.4%)</a:t>
                      </a:r>
                      <a:r>
                        <a:rPr lang="en-US" sz="1200" strike="noStrike" dirty="0" smtClean="0"/>
                        <a:t>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trike="sngStrike" dirty="0" smtClean="0"/>
                        <a:t>$100</a:t>
                      </a:r>
                      <a:r>
                        <a:rPr lang="en-US" sz="1200" dirty="0" smtClean="0"/>
                        <a:t> $0</a:t>
                      </a:r>
                      <a:endParaRPr lang="en-US" sz="1200" strike="sngStrike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7/1/18 - 7/31/18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Mar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strike="sngStrike" dirty="0" smtClean="0"/>
                        <a:t>6 (2.0%)</a:t>
                      </a:r>
                      <a:r>
                        <a:rPr lang="en-US" sz="1200" i="1" strike="noStrike" dirty="0" smtClean="0"/>
                        <a:t> </a:t>
                      </a:r>
                      <a:r>
                        <a:rPr lang="en-US" sz="1200" i="0" strike="noStrike" dirty="0" smtClean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trike="sngStrike" dirty="0" smtClean="0"/>
                        <a:t>$500</a:t>
                      </a:r>
                      <a:r>
                        <a:rPr lang="en-US" sz="1200" dirty="0" smtClean="0"/>
                        <a:t> $0</a:t>
                      </a:r>
                      <a:endParaRPr lang="en-US" sz="1200" strike="sngStrike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8/1/18 - 8/31/18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Apr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sngStrike" dirty="0" smtClean="0"/>
                        <a:t>1 (0.4%)</a:t>
                      </a:r>
                      <a:r>
                        <a:rPr lang="en-US" sz="1200" strike="noStrike" dirty="0" smtClean="0"/>
                        <a:t>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trike="sngStrike" dirty="0" smtClean="0"/>
                        <a:t>$100</a:t>
                      </a:r>
                      <a:r>
                        <a:rPr lang="en-US" sz="1200" dirty="0" smtClean="0"/>
                        <a:t> $0</a:t>
                      </a:r>
                      <a:endParaRPr lang="en-US" sz="1200" strike="sngStrike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9/1/18 - 9/30/18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May 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sngStrike" dirty="0" smtClean="0"/>
                        <a:t>1 (0.4%)</a:t>
                      </a:r>
                      <a:r>
                        <a:rPr lang="en-US" sz="1200" strike="noStrike" dirty="0" smtClean="0"/>
                        <a:t>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trike="sngStrike" dirty="0" smtClean="0"/>
                        <a:t>$100</a:t>
                      </a:r>
                      <a:r>
                        <a:rPr lang="en-US" sz="1200" dirty="0" smtClean="0"/>
                        <a:t> $0</a:t>
                      </a:r>
                      <a:endParaRPr lang="en-US" sz="1200" strike="sngStrike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ctr" defTabSz="932863" rtl="0" eaLnBrk="1" fontAlgn="b" latinLnBrk="0" hangingPunct="1"/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10/1/18 - 10/31/18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Jun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2019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2 (0.8%)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$200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278784"/>
              </p:ext>
            </p:extLst>
          </p:nvPr>
        </p:nvGraphicFramePr>
        <p:xfrm>
          <a:off x="5791200" y="1143000"/>
          <a:ext cx="301752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1645920"/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Capitation Payment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</a:rPr>
                        <a:t> Schedule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Capitation Payment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US" sz="1200" b="1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</a:rPr>
                        <a:t>Month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Impact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Jan 2019</a:t>
                      </a:r>
                      <a:r>
                        <a:rPr lang="en-US" sz="1200" baseline="0" dirty="0" smtClean="0"/>
                        <a:t> – </a:t>
                      </a:r>
                      <a:br>
                        <a:rPr lang="en-US" sz="1200" baseline="0" dirty="0" smtClean="0"/>
                      </a:br>
                      <a:r>
                        <a:rPr lang="en-US" sz="1200" baseline="0" dirty="0" smtClean="0"/>
                        <a:t>Jun 2019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No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Jul 2019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Yes - </a:t>
                      </a:r>
                      <a:br>
                        <a:rPr lang="en-US" sz="1200" dirty="0" smtClean="0"/>
                      </a:br>
                      <a:r>
                        <a:rPr lang="en-US" sz="1200" dirty="0" smtClean="0"/>
                        <a:t>$900</a:t>
                      </a:r>
                      <a:r>
                        <a:rPr lang="en-US" sz="1200" baseline="0" dirty="0" smtClean="0"/>
                        <a:t> deduction applied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…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Oct 2019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Yes – </a:t>
                      </a:r>
                      <a:br>
                        <a:rPr lang="en-US" sz="1200" dirty="0" smtClean="0"/>
                      </a:br>
                      <a:r>
                        <a:rPr lang="en-US" sz="1200" dirty="0" smtClean="0"/>
                        <a:t>$900 deduction </a:t>
                      </a:r>
                      <a:r>
                        <a:rPr lang="en-US" sz="1200" dirty="0" smtClean="0"/>
                        <a:t>returned</a:t>
                      </a:r>
                    </a:p>
                    <a:p>
                      <a:pPr algn="ctr"/>
                      <a:r>
                        <a:rPr lang="en-US" sz="1200" dirty="0" smtClean="0"/>
                        <a:t>$200 deduction applied</a:t>
                      </a:r>
                    </a:p>
                    <a:p>
                      <a:pPr algn="ctr"/>
                      <a:r>
                        <a:rPr lang="en-US" sz="1200" b="1" dirty="0" smtClean="0"/>
                        <a:t>Net:</a:t>
                      </a:r>
                      <a:r>
                        <a:rPr lang="en-US" sz="1200" b="1" baseline="0" dirty="0" smtClean="0"/>
                        <a:t> $700 returned</a:t>
                      </a:r>
                      <a:endParaRPr lang="en-US" sz="1200" b="1" dirty="0" smtClean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10" name="Elbow Connector 9"/>
          <p:cNvCxnSpPr>
            <a:endCxn id="15" idx="1"/>
          </p:cNvCxnSpPr>
          <p:nvPr/>
        </p:nvCxnSpPr>
        <p:spPr>
          <a:xfrm>
            <a:off x="5372100" y="2876550"/>
            <a:ext cx="400050" cy="63341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 bwMode="auto">
          <a:xfrm>
            <a:off x="5772150" y="3133724"/>
            <a:ext cx="3048000" cy="752475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dash"/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2860" y="2895600"/>
            <a:ext cx="228600" cy="228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4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1000" y="4572000"/>
            <a:ext cx="8382000" cy="1408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marL="342900" lvl="0" indent="-34290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+mj-lt"/>
              <a:buAutoNum type="arabicPeriod" startAt="4"/>
            </a:pPr>
            <a:r>
              <a:rPr lang="en-US" sz="1400" dirty="0"/>
              <a:t>Missed benchmarks </a:t>
            </a:r>
            <a:r>
              <a:rPr lang="en-US" sz="1400" dirty="0"/>
              <a:t>for Jan ’19 through </a:t>
            </a:r>
            <a:r>
              <a:rPr lang="en-US" sz="1400" dirty="0" smtClean="0"/>
              <a:t>May ‘19 </a:t>
            </a:r>
            <a:r>
              <a:rPr lang="en-US" sz="1400" dirty="0"/>
              <a:t>are </a:t>
            </a:r>
            <a:r>
              <a:rPr lang="en-US" sz="1400" dirty="0"/>
              <a:t>corrected by Sep ’19 scorecard publication</a:t>
            </a:r>
          </a:p>
          <a:p>
            <a:pPr marL="342900" lvl="0" indent="-34290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+mj-lt"/>
              <a:buAutoNum type="arabicPeriod" startAt="4"/>
            </a:pPr>
            <a:r>
              <a:rPr lang="en-US" sz="1400" dirty="0"/>
              <a:t>Since </a:t>
            </a:r>
            <a:r>
              <a:rPr lang="en-US" sz="1400" dirty="0" smtClean="0"/>
              <a:t>deductions </a:t>
            </a:r>
            <a:r>
              <a:rPr lang="en-US" sz="1400" dirty="0"/>
              <a:t>are returned at start of next quarter, $900 deduction is returned to </a:t>
            </a:r>
            <a:r>
              <a:rPr lang="en-US" sz="1400" dirty="0" smtClean="0"/>
              <a:t>Oct ‘19 </a:t>
            </a:r>
            <a:r>
              <a:rPr lang="en-US" sz="1400" dirty="0"/>
              <a:t>monthly capitation </a:t>
            </a:r>
            <a:r>
              <a:rPr lang="en-US" sz="1400" dirty="0" smtClean="0"/>
              <a:t>payment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+mj-lt"/>
              <a:buAutoNum type="arabicPeriod" startAt="4"/>
            </a:pPr>
            <a:r>
              <a:rPr lang="en-US" sz="1400" dirty="0" smtClean="0"/>
              <a:t>However, since missed benchmarks for Jun ‘19 have not been corrected, and there are less than 5 active deductions, Jun </a:t>
            </a:r>
            <a:r>
              <a:rPr lang="en-US" sz="1400" dirty="0"/>
              <a:t>‘19 </a:t>
            </a:r>
            <a:r>
              <a:rPr lang="en-US" sz="1400" dirty="0" smtClean="0"/>
              <a:t>deduction will rollover and apply to </a:t>
            </a:r>
            <a:r>
              <a:rPr lang="en-US" sz="1400" dirty="0"/>
              <a:t>Oct ‘19 monthly capitation </a:t>
            </a:r>
            <a:r>
              <a:rPr lang="en-US" sz="1400" dirty="0" smtClean="0"/>
              <a:t>payment</a:t>
            </a:r>
          </a:p>
          <a:p>
            <a:pPr marL="540486" lvl="1" indent="-342900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</a:pPr>
            <a:r>
              <a:rPr lang="en-US" sz="1400" dirty="0" smtClean="0"/>
              <a:t>Net result is $700 returned ($900 returned – $200 deducted)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2819400" y="3550920"/>
            <a:ext cx="2552700" cy="266700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dash"/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819400" y="2194560"/>
            <a:ext cx="2552700" cy="1333500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dash"/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5248275" y="2743200"/>
            <a:ext cx="228600" cy="228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5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" name="Elbow Connector 17"/>
          <p:cNvCxnSpPr/>
          <p:nvPr/>
        </p:nvCxnSpPr>
        <p:spPr>
          <a:xfrm flipV="1">
            <a:off x="5394960" y="3509962"/>
            <a:ext cx="361950" cy="22383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 bwMode="auto">
          <a:xfrm>
            <a:off x="5257800" y="3581400"/>
            <a:ext cx="228600" cy="228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6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2400" y="3869323"/>
            <a:ext cx="838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lvl="0" indent="0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/>
            </a:lvl1pPr>
            <a:lvl2pPr marL="197586" lvl="1" indent="-19596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466431" lvl="2" indent="-267227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626768" lvl="3" indent="-158716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764947" lvl="4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9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000" i="1" dirty="0" smtClean="0"/>
              <a:t>Deductions occur semi-annually</a:t>
            </a:r>
            <a:r>
              <a:rPr lang="en-US" sz="1000" i="1" dirty="0"/>
              <a:t>, in January and </a:t>
            </a:r>
            <a:r>
              <a:rPr lang="en-US" sz="1000" i="1" dirty="0" smtClean="0"/>
              <a:t>July</a:t>
            </a: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000" i="1" dirty="0"/>
              <a:t>Deduction returns occur at start of next quarter</a:t>
            </a:r>
            <a:endParaRPr lang="en-US" sz="1000" i="1" dirty="0" smtClean="0"/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000" i="1" dirty="0" smtClean="0"/>
              <a:t>No more than 5 monthly deductions can be applied at a given time 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291240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292388"/>
          </a:xfrm>
        </p:spPr>
        <p:txBody>
          <a:bodyPr/>
          <a:lstStyle/>
          <a:p>
            <a:r>
              <a:rPr lang="en-US" dirty="0"/>
              <a:t>Scorecard benchmarks against historical data – NHP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618571"/>
              </p:ext>
            </p:extLst>
          </p:nvPr>
        </p:nvGraphicFramePr>
        <p:xfrm>
          <a:off x="457200" y="1981200"/>
          <a:ext cx="8229600" cy="4306043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57200"/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371600"/>
                <a:gridCol w="1371600"/>
                <a:gridCol w="1371600"/>
              </a:tblGrid>
              <a:tr h="4838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Row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Measure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Name</a:t>
                      </a:r>
                      <a:r>
                        <a:rPr lang="en-US" sz="1200" b="1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[A]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Times met</a:t>
                      </a:r>
                      <a:r>
                        <a:rPr lang="en-US" sz="12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out of 12 </a:t>
                      </a:r>
                      <a:r>
                        <a:rPr lang="en-US" sz="1200" b="1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months [B]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% Threshold </a:t>
                      </a:r>
                      <a:b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[C]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Average</a:t>
                      </a:r>
                      <a:r>
                        <a:rPr lang="en-US" sz="12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% Attainment [D]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Lowest</a:t>
                      </a:r>
                      <a:r>
                        <a:rPr lang="en-US" sz="12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200" b="1" i="0" u="none" strike="noStrike" kern="1200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Attainment [E]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Source of Admission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Type of Admission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Billed Charge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Billing Provider NPI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98.69%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96.33%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Dispense as Written Indicator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From Service Date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Service Date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Dispensing Fee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ICD Version Qualifier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New Member ID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NDC Number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Place of Service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Procedure Code 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Prof_M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14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Refill Indicator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Prescription Number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16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Service Provider NPI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98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99.97%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99.93%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17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Admission Date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Allowable Amount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19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Net Payment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2400" y="609600"/>
            <a:ext cx="8534400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000000"/>
              </a:buClr>
            </a:pPr>
            <a:r>
              <a:rPr lang="en-US" sz="1200" dirty="0">
                <a:solidFill>
                  <a:srgbClr val="000000"/>
                </a:solidFill>
              </a:rPr>
              <a:t>To support MCO/ACPP readiness for meeting benchmarks per policy, MassHealth assessed 37 benchmarks against 12 months of historical encounter data (Feb. 2017 to Jan. 2018), grouped by historic MCO plans (i.e., pre-ACO).</a:t>
            </a:r>
          </a:p>
          <a:p>
            <a:pPr marL="171450" indent="-171450">
              <a:spcAft>
                <a:spcPts val="30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Frequency of missed benchmarks (where percent complete is below threshold </a:t>
            </a:r>
            <a:r>
              <a:rPr lang="en-US" sz="1200" dirty="0" smtClean="0">
                <a:solidFill>
                  <a:srgbClr val="000000"/>
                </a:solidFill>
              </a:rPr>
              <a:t>value), average attainment, and lowest attainment values are </a:t>
            </a:r>
            <a:r>
              <a:rPr lang="en-US" sz="1200" dirty="0">
                <a:solidFill>
                  <a:srgbClr val="000000"/>
                </a:solidFill>
              </a:rPr>
              <a:t>detailed below. </a:t>
            </a:r>
          </a:p>
          <a:p>
            <a:pPr marL="171450" indent="-171450">
              <a:spcAft>
                <a:spcPts val="30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MCOs/ACPPs should monitor benchmarks </a:t>
            </a:r>
            <a:r>
              <a:rPr lang="en-US" sz="1200" dirty="0" smtClean="0">
                <a:solidFill>
                  <a:srgbClr val="000000"/>
                </a:solidFill>
              </a:rPr>
              <a:t>that met</a:t>
            </a:r>
            <a:r>
              <a:rPr lang="en-US" sz="1200" dirty="0" smtClean="0">
                <a:solidFill>
                  <a:srgbClr val="000000"/>
                </a:solidFill>
              </a:rPr>
              <a:t> threshold less than 12 times </a:t>
            </a:r>
            <a:r>
              <a:rPr lang="en-US" sz="1200" dirty="0" smtClean="0">
                <a:solidFill>
                  <a:srgbClr val="000000"/>
                </a:solidFill>
              </a:rPr>
              <a:t>to </a:t>
            </a:r>
            <a:r>
              <a:rPr lang="en-US" sz="1200" dirty="0">
                <a:solidFill>
                  <a:srgbClr val="000000"/>
                </a:solidFill>
              </a:rPr>
              <a:t>attain threshold going forward. </a:t>
            </a:r>
          </a:p>
          <a:p>
            <a:pPr marL="171450" indent="-171450">
              <a:spcAft>
                <a:spcPts val="30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Data below is displayed for informational purposes only; scorecard deduction policy does not apply to this time period.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4600"/>
            <a:ext cx="822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0000"/>
                </a:solidFill>
              </a:rPr>
              <a:t>Please refer to scorecard workbook for benchmark specifications.</a:t>
            </a:r>
            <a:endParaRPr lang="en-US" sz="16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1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292388"/>
          </a:xfrm>
        </p:spPr>
        <p:txBody>
          <a:bodyPr/>
          <a:lstStyle/>
          <a:p>
            <a:r>
              <a:rPr lang="en-US" dirty="0"/>
              <a:t>Scorecard benchmarks against historical data – NHP </a:t>
            </a:r>
            <a:r>
              <a:rPr lang="en-US" i="1" dirty="0"/>
              <a:t>(continued)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4600"/>
            <a:ext cx="822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0000"/>
                </a:solidFill>
              </a:rPr>
              <a:t>Please refer to scorecard workbook for benchmark specifications.</a:t>
            </a:r>
            <a:endParaRPr lang="en-US" sz="1600" i="1" dirty="0">
              <a:solidFill>
                <a:srgbClr val="000000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169818"/>
              </p:ext>
            </p:extLst>
          </p:nvPr>
        </p:nvGraphicFramePr>
        <p:xfrm>
          <a:off x="457200" y="1981200"/>
          <a:ext cx="8229600" cy="4104875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57200"/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371600"/>
                <a:gridCol w="1371600"/>
                <a:gridCol w="1371600"/>
              </a:tblGrid>
              <a:tr h="4838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Row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Measure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Name</a:t>
                      </a:r>
                      <a:r>
                        <a:rPr lang="en-US" sz="1200" b="1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[A]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Times met</a:t>
                      </a:r>
                      <a:r>
                        <a:rPr lang="en-US" sz="12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out of 12 </a:t>
                      </a:r>
                      <a:r>
                        <a:rPr lang="en-US" sz="1200" b="1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months [B]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% Threshold </a:t>
                      </a:r>
                      <a:b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[C]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Average</a:t>
                      </a:r>
                      <a:r>
                        <a:rPr lang="en-US" sz="12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% Attainment [D]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Lowest</a:t>
                      </a:r>
                      <a:r>
                        <a:rPr lang="en-US" sz="12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200" b="1" i="0" u="none" strike="noStrike" kern="1200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Attainment [E]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Billing Provider ID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Billing Provider ID Type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Claim Category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99.25%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97.96%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Admitting Diagnosis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24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Discharge Date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25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Prescribing Prov. ID Type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26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Prescribing Prov. ID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27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Primary Diagnosis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28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Quantity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29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Record Indicator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99.25%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97.96%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Revenue Code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98.95%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96.08%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Date Script Written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83.28%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Servicing Provider ID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Servicing </a:t>
                      </a:r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Provider 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ID Type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34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Servicing Provider Type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35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Service Category</a:t>
                      </a: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99.25%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97.96%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36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Patient Discharge Status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98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99.98%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99.98%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37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8288" marR="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Type Of Bill 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328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</a:t>
                      </a:r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98.96%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97.36%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52400" y="609600"/>
            <a:ext cx="8534400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000000"/>
              </a:buClr>
            </a:pPr>
            <a:r>
              <a:rPr lang="en-US" sz="1200" dirty="0">
                <a:solidFill>
                  <a:srgbClr val="000000"/>
                </a:solidFill>
              </a:rPr>
              <a:t>To support MCO/ACPP readiness for meeting benchmarks per policy, MassHealth assessed 37 benchmarks against 12 months of historical encounter data (Feb. 2017 to Jan. 2018), grouped by historic MCO plans (i.e., pre-ACO).</a:t>
            </a:r>
          </a:p>
          <a:p>
            <a:pPr marL="171450" indent="-171450">
              <a:spcAft>
                <a:spcPts val="30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Frequency of missed benchmarks (where percent complete is below threshold value), average attainment, and lowest attainment values are detailed below. </a:t>
            </a:r>
          </a:p>
          <a:p>
            <a:pPr marL="171450" indent="-171450">
              <a:spcAft>
                <a:spcPts val="30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MCOs/ACPPs should monitor benchmarks that met threshold less than 12 times to attain threshold going forward. </a:t>
            </a:r>
          </a:p>
          <a:p>
            <a:pPr marL="171450" indent="-171450">
              <a:spcAft>
                <a:spcPts val="300"/>
              </a:spcAft>
              <a:buClr>
                <a:srgbClr val="000000"/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Data below is displayed for informational purposes only; scorecard deduction policy does not apply to this time period. </a:t>
            </a: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82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JkzWDuQVuLlUPxQyFBL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JkzWDuQVuLlUPxQyFBL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JkzWDuQVuLlUPxQyFBLw"/>
</p:tagLst>
</file>

<file path=ppt/theme/theme1.xml><?xml version="1.0" encoding="utf-8"?>
<a:theme xmlns:a="http://schemas.openxmlformats.org/drawingml/2006/main" name="SRM_CF_DG1140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>
          <a:solidFill>
            <a:srgbClr val="808080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defTabSz="914400" fontAlgn="base">
          <a:spcBef>
            <a:spcPct val="0"/>
          </a:spcBef>
          <a:spcAft>
            <a:spcPct val="0"/>
          </a:spcAft>
          <a:defRPr sz="1200" dirty="0">
            <a:solidFill>
              <a:srgbClr val="000000"/>
            </a:solidFill>
            <a:latin typeface="Arial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0C0C0"/>
        </a:accent1>
        <a:accent2>
          <a:srgbClr val="4FB94F"/>
        </a:accent2>
        <a:accent3>
          <a:srgbClr val="1D954F"/>
        </a:accent3>
        <a:accent4>
          <a:srgbClr val="5E8BFF"/>
        </a:accent4>
        <a:accent5>
          <a:srgbClr val="FFCD33"/>
        </a:accent5>
        <a:accent6>
          <a:srgbClr val="808080"/>
        </a:accent6>
        <a:hlink>
          <a:srgbClr val="1D954F"/>
        </a:hlink>
        <a:folHlink>
          <a:srgbClr val="5E8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RM_CF_DG1140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>
          <a:solidFill>
            <a:srgbClr val="808080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defTabSz="914400" fontAlgn="base">
          <a:spcBef>
            <a:spcPct val="0"/>
          </a:spcBef>
          <a:spcAft>
            <a:spcPct val="0"/>
          </a:spcAft>
          <a:defRPr sz="1200" dirty="0">
            <a:solidFill>
              <a:srgbClr val="000000"/>
            </a:solidFill>
            <a:latin typeface="Arial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0C0C0"/>
        </a:accent1>
        <a:accent2>
          <a:srgbClr val="4FB94F"/>
        </a:accent2>
        <a:accent3>
          <a:srgbClr val="1D954F"/>
        </a:accent3>
        <a:accent4>
          <a:srgbClr val="5E8BFF"/>
        </a:accent4>
        <a:accent5>
          <a:srgbClr val="FFCD33"/>
        </a:accent5>
        <a:accent6>
          <a:srgbClr val="808080"/>
        </a:accent6>
        <a:hlink>
          <a:srgbClr val="1D954F"/>
        </a:hlink>
        <a:folHlink>
          <a:srgbClr val="5E8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8005</TotalTime>
  <Words>1632</Words>
  <Application>Microsoft Office PowerPoint</Application>
  <PresentationFormat>On-screen Show (4:3)</PresentationFormat>
  <Paragraphs>426</Paragraphs>
  <Slides>9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SRM_CF_DG1140</vt:lpstr>
      <vt:lpstr>1_SRM_CF_DG1140</vt:lpstr>
      <vt:lpstr>think-cell Slide</vt:lpstr>
      <vt:lpstr>MCO/Accountable Care Partnership Plan Encounter Data Deduction Scorecard - NHP</vt:lpstr>
      <vt:lpstr>Agenda</vt:lpstr>
      <vt:lpstr>To monitor encounter data integrity, MassHealth will produce monthly scorecard based on timeliness and completeness</vt:lpstr>
      <vt:lpstr>To ensure compliance, monthly capitation payments are subject to deduction when benchmarks remain below threshold after 3 scorecards</vt:lpstr>
      <vt:lpstr>Schedule of encounter data reporting in scorecard</vt:lpstr>
      <vt:lpstr>Example of deduction calculation and execution</vt:lpstr>
      <vt:lpstr>Example of deduction return</vt:lpstr>
      <vt:lpstr>Scorecard benchmarks against historical data – NHP</vt:lpstr>
      <vt:lpstr>Scorecard benchmarks against historical data – NHP (continued)</vt:lpstr>
    </vt:vector>
  </TitlesOfParts>
  <Company>EOHHS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MCO Encounter Data Scorecard</dc:title>
  <dc:creator>EOHHS</dc:creator>
  <cp:lastModifiedBy>Dominguez, Irving (EHS)</cp:lastModifiedBy>
  <cp:revision>670</cp:revision>
  <cp:lastPrinted>2018-05-17T17:47:33Z</cp:lastPrinted>
  <dcterms:created xsi:type="dcterms:W3CDTF">2018-03-13T13:48:11Z</dcterms:created>
  <dcterms:modified xsi:type="dcterms:W3CDTF">2018-05-18T16:36:29Z</dcterms:modified>
</cp:coreProperties>
</file>
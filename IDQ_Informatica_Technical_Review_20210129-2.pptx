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</p:sldMasterIdLst>
  <p:notesMasterIdLst>
    <p:notesMasterId r:id="rId35"/>
  </p:notesMasterIdLst>
  <p:sldIdLst>
    <p:sldId id="1020" r:id="rId3"/>
    <p:sldId id="1141" r:id="rId4"/>
    <p:sldId id="1150" r:id="rId5"/>
    <p:sldId id="1149" r:id="rId6"/>
    <p:sldId id="1174" r:id="rId7"/>
    <p:sldId id="299" r:id="rId8"/>
    <p:sldId id="1171" r:id="rId9"/>
    <p:sldId id="1173" r:id="rId10"/>
    <p:sldId id="1181" r:id="rId11"/>
    <p:sldId id="1182" r:id="rId12"/>
    <p:sldId id="1183" r:id="rId13"/>
    <p:sldId id="1148" r:id="rId14"/>
    <p:sldId id="1161" r:id="rId15"/>
    <p:sldId id="1160" r:id="rId16"/>
    <p:sldId id="1159" r:id="rId17"/>
    <p:sldId id="1144" r:id="rId18"/>
    <p:sldId id="1145" r:id="rId19"/>
    <p:sldId id="1170" r:id="rId20"/>
    <p:sldId id="1158" r:id="rId21"/>
    <p:sldId id="1157" r:id="rId22"/>
    <p:sldId id="1156" r:id="rId23"/>
    <p:sldId id="1155" r:id="rId24"/>
    <p:sldId id="1153" r:id="rId25"/>
    <p:sldId id="1154" r:id="rId26"/>
    <p:sldId id="1152" r:id="rId27"/>
    <p:sldId id="1172" r:id="rId28"/>
    <p:sldId id="1151" r:id="rId29"/>
    <p:sldId id="1175" r:id="rId30"/>
    <p:sldId id="1177" r:id="rId31"/>
    <p:sldId id="1178" r:id="rId32"/>
    <p:sldId id="1180" r:id="rId33"/>
    <p:sldId id="116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31F8F-26B0-4BDA-BD06-CA317149D535}" type="datetimeFigureOut">
              <a:rPr lang="en-US" smtClean="0"/>
              <a:t>1/29/2021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E398F-ECB8-4179-99E5-BEB733EDE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55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charset="0"/>
              </a:defRPr>
            </a:lvl1pPr>
            <a:lvl2pPr marL="743577" indent="-285991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charset="0"/>
              </a:defRPr>
            </a:lvl2pPr>
            <a:lvl3pPr marL="1143970" indent="-228795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charset="0"/>
              </a:defRPr>
            </a:lvl3pPr>
            <a:lvl4pPr marL="1601554" indent="-228795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charset="0"/>
              </a:defRPr>
            </a:lvl4pPr>
            <a:lvl5pPr marL="2059143" indent="-228795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Arial" charset="0"/>
              </a:defRPr>
            </a:lvl5pPr>
            <a:lvl6pPr marL="2516730" indent="-228795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</a:defRPr>
            </a:lvl6pPr>
            <a:lvl7pPr marL="2974319" indent="-228795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</a:defRPr>
            </a:lvl7pPr>
            <a:lvl8pPr marL="3431904" indent="-228795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</a:defRPr>
            </a:lvl8pPr>
            <a:lvl9pPr marL="3889492" indent="-228795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5CBE04-5880-4A20-A2A3-3390AC720BC4}" type="slidenum"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9933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934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293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748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14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459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721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008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23862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626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359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616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5058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480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477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525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55970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93548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773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3644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39926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16950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3639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2174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909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18229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0542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0866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367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942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44E60-BAD9-49A8-B6AC-7134A1FE83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817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sembassy.de/usa/stateimages/massachsuettsseal.jpg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jpe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lternate Title">
  <p:cSld name="Alternate Title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Google Shape;21;p15"/>
          <p:cNvGraphicFramePr/>
          <p:nvPr/>
        </p:nvGraphicFramePr>
        <p:xfrm>
          <a:off x="2162" y="1622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8" r:id="rId3" imgW="1619" imgH="1619" progId="TCLayout.ActiveDocument.1">
                  <p:embed/>
                </p:oleObj>
              </mc:Choice>
              <mc:Fallback>
                <p:oleObj r:id="rId3" imgW="1619" imgH="1619" progId="TCLayout.ActiveDocument.1">
                  <p:embed/>
                  <p:pic>
                    <p:nvPicPr>
                      <p:cNvPr id="21" name="Google Shape;21;p15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162" y="1622"/>
                        <a:ext cx="2159" cy="1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Google Shape;22;p15"/>
          <p:cNvSpPr/>
          <p:nvPr/>
        </p:nvSpPr>
        <p:spPr>
          <a:xfrm>
            <a:off x="2834206" y="3245970"/>
            <a:ext cx="2834204" cy="436455"/>
          </a:xfrm>
          <a:prstGeom prst="rect">
            <a:avLst/>
          </a:prstGeom>
          <a:solidFill>
            <a:schemeClr val="accent4">
              <a:alpha val="76470"/>
            </a:schemeClr>
          </a:solidFill>
          <a:ln>
            <a:noFill/>
          </a:ln>
        </p:spPr>
        <p:txBody>
          <a:bodyPr spcFirstLastPara="1" wrap="square" lIns="93275" tIns="46625" rIns="93275" bIns="46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5"/>
          <p:cNvSpPr/>
          <p:nvPr/>
        </p:nvSpPr>
        <p:spPr>
          <a:xfrm>
            <a:off x="2" y="3245969"/>
            <a:ext cx="2834204" cy="436455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txBody>
          <a:bodyPr spcFirstLastPara="1" wrap="square" lIns="93275" tIns="46625" rIns="93275" bIns="46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5"/>
          <p:cNvSpPr/>
          <p:nvPr/>
        </p:nvSpPr>
        <p:spPr>
          <a:xfrm>
            <a:off x="5668409" y="3246845"/>
            <a:ext cx="6523591" cy="436455"/>
          </a:xfrm>
          <a:prstGeom prst="rect">
            <a:avLst/>
          </a:prstGeom>
          <a:solidFill>
            <a:srgbClr val="009900">
              <a:alpha val="68235"/>
            </a:srgbClr>
          </a:solidFill>
          <a:ln>
            <a:noFill/>
          </a:ln>
        </p:spPr>
        <p:txBody>
          <a:bodyPr spcFirstLastPara="1" wrap="square" lIns="93275" tIns="46625" rIns="93275" bIns="466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5" descr="http://upload.wikimedia.org/wikipedia/commons/thumb/8/82/Seal_of_Massachusetts.svg/2000px-Seal_of_Massachusetts.sv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2623" y="2029604"/>
            <a:ext cx="2767117" cy="2075215"/>
          </a:xfrm>
          <a:prstGeom prst="rect">
            <a:avLst/>
          </a:prstGeom>
          <a:noFill/>
          <a:ln>
            <a:noFill/>
          </a:ln>
          <a:effectLst>
            <a:outerShdw blurRad="889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6" name="Google Shape;26;p15"/>
          <p:cNvSpPr/>
          <p:nvPr/>
        </p:nvSpPr>
        <p:spPr>
          <a:xfrm>
            <a:off x="3591729" y="5983586"/>
            <a:ext cx="6828367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2960"/>
                </a:solidFill>
                <a:latin typeface="Arial"/>
                <a:ea typeface="Arial"/>
                <a:cs typeface="Arial"/>
                <a:sym typeface="Arial"/>
              </a:rPr>
              <a:t>CONFIDENTIAL; FOR POLICY DEVELOPMENT PURPOSES ONLY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1"/>
          </p:nvPr>
        </p:nvSpPr>
        <p:spPr>
          <a:xfrm>
            <a:off x="3591728" y="4940989"/>
            <a:ext cx="445980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3567494" y="2669880"/>
            <a:ext cx="803727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ubTitle" idx="2"/>
          </p:nvPr>
        </p:nvSpPr>
        <p:spPr>
          <a:xfrm>
            <a:off x="3598254" y="4278868"/>
            <a:ext cx="73856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825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mid">
  <p:cSld name="Title only - mid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233261" y="2590801"/>
            <a:ext cx="1073823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317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text">
  <p:cSld name="Three 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233261" y="234864"/>
            <a:ext cx="1073823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1"/>
          </p:nvPr>
        </p:nvSpPr>
        <p:spPr>
          <a:xfrm>
            <a:off x="406400" y="1371600"/>
            <a:ext cx="3779520" cy="493776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8175724" y="1371600"/>
            <a:ext cx="3779520" cy="493776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3"/>
          </p:nvPr>
        </p:nvSpPr>
        <p:spPr>
          <a:xfrm>
            <a:off x="4267200" y="1371600"/>
            <a:ext cx="3779520" cy="493776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4"/>
          </p:nvPr>
        </p:nvSpPr>
        <p:spPr>
          <a:xfrm>
            <a:off x="406400" y="990600"/>
            <a:ext cx="3779520" cy="381000"/>
          </a:xfrm>
          <a:prstGeom prst="rect">
            <a:avLst/>
          </a:prstGeom>
          <a:solidFill>
            <a:srgbClr val="BED0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5"/>
          </p:nvPr>
        </p:nvSpPr>
        <p:spPr>
          <a:xfrm>
            <a:off x="4267200" y="990600"/>
            <a:ext cx="3779520" cy="381000"/>
          </a:xfrm>
          <a:prstGeom prst="rect">
            <a:avLst/>
          </a:prstGeom>
          <a:solidFill>
            <a:srgbClr val="BED0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6"/>
          </p:nvPr>
        </p:nvSpPr>
        <p:spPr>
          <a:xfrm>
            <a:off x="8175724" y="990600"/>
            <a:ext cx="3779520" cy="381000"/>
          </a:xfrm>
          <a:prstGeom prst="rect">
            <a:avLst/>
          </a:prstGeom>
          <a:solidFill>
            <a:srgbClr val="BED0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574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text">
  <p:cSld name="Four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>
            <a:spLocks noGrp="1"/>
          </p:cNvSpPr>
          <p:nvPr>
            <p:ph type="title"/>
          </p:nvPr>
        </p:nvSpPr>
        <p:spPr>
          <a:xfrm>
            <a:off x="233261" y="234864"/>
            <a:ext cx="1073823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1"/>
          </p:nvPr>
        </p:nvSpPr>
        <p:spPr>
          <a:xfrm>
            <a:off x="286531" y="1112520"/>
            <a:ext cx="5730240" cy="246888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2"/>
          </p:nvPr>
        </p:nvSpPr>
        <p:spPr>
          <a:xfrm>
            <a:off x="286531" y="4033986"/>
            <a:ext cx="5730240" cy="246888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3"/>
          </p:nvPr>
        </p:nvSpPr>
        <p:spPr>
          <a:xfrm>
            <a:off x="6134589" y="1112520"/>
            <a:ext cx="5730240" cy="246888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4"/>
          </p:nvPr>
        </p:nvSpPr>
        <p:spPr>
          <a:xfrm>
            <a:off x="286531" y="731520"/>
            <a:ext cx="5730240" cy="381000"/>
          </a:xfrm>
          <a:prstGeom prst="rect">
            <a:avLst/>
          </a:prstGeom>
          <a:solidFill>
            <a:srgbClr val="BED0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5"/>
          </p:nvPr>
        </p:nvSpPr>
        <p:spPr>
          <a:xfrm>
            <a:off x="6134589" y="731520"/>
            <a:ext cx="5730240" cy="381000"/>
          </a:xfrm>
          <a:prstGeom prst="rect">
            <a:avLst/>
          </a:prstGeom>
          <a:solidFill>
            <a:srgbClr val="BED0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6"/>
          </p:nvPr>
        </p:nvSpPr>
        <p:spPr>
          <a:xfrm>
            <a:off x="286531" y="3652986"/>
            <a:ext cx="5730240" cy="381000"/>
          </a:xfrm>
          <a:prstGeom prst="rect">
            <a:avLst/>
          </a:prstGeom>
          <a:solidFill>
            <a:srgbClr val="BED0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7"/>
          </p:nvPr>
        </p:nvSpPr>
        <p:spPr>
          <a:xfrm>
            <a:off x="6134589" y="4033986"/>
            <a:ext cx="5730240" cy="246888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8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body" idx="8"/>
          </p:nvPr>
        </p:nvSpPr>
        <p:spPr>
          <a:xfrm>
            <a:off x="6134589" y="3652986"/>
            <a:ext cx="5730240" cy="381000"/>
          </a:xfrm>
          <a:prstGeom prst="rect">
            <a:avLst/>
          </a:prstGeom>
          <a:solidFill>
            <a:srgbClr val="BED0FF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05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9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610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">
  <p:cSld name="Title only 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>
            <a:spLocks noGrp="1"/>
          </p:cNvSpPr>
          <p:nvPr>
            <p:ph type="title"/>
          </p:nvPr>
        </p:nvSpPr>
        <p:spPr>
          <a:xfrm>
            <a:off x="233261" y="234864"/>
            <a:ext cx="1073823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301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63304"/>
            <a:ext cx="10363200" cy="18466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for Policy Development Purposes Only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0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 descr="MasterBackgrou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100"/>
            <a:ext cx="12234333" cy="688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massachsuettsseal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433" y="533401"/>
            <a:ext cx="2305051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/>
          <p:cNvSpPr>
            <a:spLocks noChangeArrowheads="1"/>
          </p:cNvSpPr>
          <p:nvPr/>
        </p:nvSpPr>
        <p:spPr bwMode="white">
          <a:xfrm>
            <a:off x="237067" y="444500"/>
            <a:ext cx="6612467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tabLst>
                <a:tab pos="915988" algn="l"/>
              </a:tabLst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915988" algn="l"/>
              </a:tabLst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915988" algn="l"/>
              </a:tabLst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915988" algn="l"/>
              </a:tabLst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915988" algn="l"/>
              </a:tabLst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5988" algn="l"/>
              </a:tabLs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5988" algn="l"/>
              </a:tabLs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5988" algn="l"/>
              </a:tabLs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5988" algn="l"/>
              </a:tabLs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en-US" sz="1800" b="1" dirty="0">
                <a:solidFill>
                  <a:srgbClr val="FFFFFF"/>
                </a:solidFill>
              </a:rPr>
              <a:t>Commonwealth of Massachusetts</a:t>
            </a:r>
            <a:br>
              <a:rPr lang="en-US" altLang="en-US" sz="1800" b="1" dirty="0">
                <a:solidFill>
                  <a:srgbClr val="FFFFFF"/>
                </a:solidFill>
              </a:rPr>
            </a:br>
            <a:r>
              <a:rPr lang="en-US" altLang="en-US" sz="1300" b="1" dirty="0">
                <a:solidFill>
                  <a:srgbClr val="FFFFFF"/>
                </a:solidFill>
              </a:rPr>
              <a:t>Executive Office of Health and Human Services</a:t>
            </a:r>
            <a:br>
              <a:rPr lang="en-US" altLang="en-US" sz="1300" b="1" dirty="0">
                <a:solidFill>
                  <a:srgbClr val="FFFFFF"/>
                </a:solidFill>
              </a:rPr>
            </a:br>
            <a:br>
              <a:rPr lang="en-US" altLang="en-US" sz="1300" b="1" dirty="0">
                <a:solidFill>
                  <a:srgbClr val="FFFFFF"/>
                </a:solidFill>
              </a:rPr>
            </a:br>
            <a:endParaRPr lang="en-US" altLang="en-US" sz="1800" b="1" dirty="0">
              <a:solidFill>
                <a:srgbClr val="FFFFFF"/>
              </a:solidFill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689600" y="3124200"/>
            <a:ext cx="6223000" cy="2139950"/>
          </a:xfrm>
        </p:spPr>
        <p:txBody>
          <a:bodyPr lIns="91440" tIns="45720" rIns="91440" bIns="45720"/>
          <a:lstStyle>
            <a:lvl1pPr algn="r">
              <a:defRPr sz="1800">
                <a:solidFill>
                  <a:srgbClr val="003366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3612691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24085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653011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447800"/>
            <a:ext cx="54864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447800"/>
            <a:ext cx="54864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926987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197255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914500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96994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649272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2244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1770300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02233" y="319088"/>
            <a:ext cx="2997200" cy="6081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1" y="319088"/>
            <a:ext cx="8792633" cy="6081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1429802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319088"/>
            <a:ext cx="11281833" cy="442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6400" y="1447800"/>
            <a:ext cx="11176000" cy="49530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725118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oogle Shape;10;p14"/>
          <p:cNvGraphicFramePr/>
          <p:nvPr/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r:id="rId9" imgW="161984" imgH="161974" progId="TCLayout.ActiveDocument.1">
                  <p:embed/>
                </p:oleObj>
              </mc:Choice>
              <mc:Fallback>
                <p:oleObj r:id="rId9" imgW="161984" imgH="161974" progId="TCLayout.ActiveDocument.1">
                  <p:embed/>
                  <p:pic>
                    <p:nvPicPr>
                      <p:cNvPr id="10" name="Google Shape;10;p14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/>
                      <a:stretch/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oogle Shape;11;p14"/>
          <p:cNvGrpSpPr/>
          <p:nvPr/>
        </p:nvGrpSpPr>
        <p:grpSpPr>
          <a:xfrm>
            <a:off x="3" y="6565684"/>
            <a:ext cx="12191997" cy="293194"/>
            <a:chOff x="-476250" y="1078227"/>
            <a:chExt cx="9437687" cy="476729"/>
          </a:xfrm>
        </p:grpSpPr>
        <p:sp>
          <p:nvSpPr>
            <p:cNvPr id="12" name="Google Shape;12;p14"/>
            <p:cNvSpPr/>
            <p:nvPr/>
          </p:nvSpPr>
          <p:spPr>
            <a:xfrm>
              <a:off x="1717675" y="1078230"/>
              <a:ext cx="2193925" cy="475776"/>
            </a:xfrm>
            <a:prstGeom prst="rect">
              <a:avLst/>
            </a:prstGeom>
            <a:solidFill>
              <a:schemeClr val="accent4">
                <a:alpha val="7647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4"/>
            <p:cNvSpPr/>
            <p:nvPr/>
          </p:nvSpPr>
          <p:spPr>
            <a:xfrm>
              <a:off x="-476250" y="1078227"/>
              <a:ext cx="2193925" cy="475776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3911599" y="1079180"/>
              <a:ext cx="5049838" cy="475776"/>
            </a:xfrm>
            <a:prstGeom prst="rect">
              <a:avLst/>
            </a:prstGeom>
            <a:solidFill>
              <a:srgbClr val="009900">
                <a:alpha val="6823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14"/>
          <p:cNvSpPr txBox="1">
            <a:spLocks noGrp="1"/>
          </p:cNvSpPr>
          <p:nvPr>
            <p:ph type="title"/>
          </p:nvPr>
        </p:nvSpPr>
        <p:spPr>
          <a:xfrm>
            <a:off x="233261" y="234864"/>
            <a:ext cx="1073823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4"/>
          <p:cNvSpPr txBox="1"/>
          <p:nvPr/>
        </p:nvSpPr>
        <p:spPr>
          <a:xfrm>
            <a:off x="11745018" y="6633336"/>
            <a:ext cx="213725" cy="15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4" descr="http://upload.wikimedia.org/wikipedia/commons/thumb/8/82/Seal_of_Massachusetts.svg/2000px-Seal_of_Massachusetts.svg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119954" y="135845"/>
            <a:ext cx="838789" cy="629055"/>
          </a:xfrm>
          <a:prstGeom prst="rect">
            <a:avLst/>
          </a:prstGeom>
          <a:noFill/>
          <a:ln>
            <a:noFill/>
          </a:ln>
          <a:effectLst>
            <a:outerShdw blurRad="889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Google Shape;18;p14"/>
          <p:cNvSpPr txBox="1"/>
          <p:nvPr/>
        </p:nvSpPr>
        <p:spPr>
          <a:xfrm>
            <a:off x="7213600" y="6619159"/>
            <a:ext cx="432574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Confidential – for policy development purposes only </a:t>
            </a: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4"/>
          <p:cNvSpPr txBox="1"/>
          <p:nvPr/>
        </p:nvSpPr>
        <p:spPr>
          <a:xfrm>
            <a:off x="9852385" y="76491"/>
            <a:ext cx="223822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PRELIMINARY DRAFT</a:t>
            </a:r>
            <a:endParaRPr sz="1100" b="1" i="1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17678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op blu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1"/>
            <a:ext cx="12206817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white">
          <a:xfrm>
            <a:off x="1117601" y="319088"/>
            <a:ext cx="1128183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447800"/>
            <a:ext cx="11176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6038" rIns="45720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-21166" y="6856413"/>
            <a:ext cx="1221316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45720" rIns="4572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1030" name="Picture 6" descr="best ver2b seal"/>
          <p:cNvPicPr>
            <a:picLocks noChangeAspect="1" noChangeArrowheads="1"/>
          </p:cNvPicPr>
          <p:nvPr/>
        </p:nvPicPr>
        <p:blipFill>
          <a:blip r:embed="rId15" cstate="print">
            <a:clrChange>
              <a:clrFrom>
                <a:srgbClr val="003264"/>
              </a:clrFrom>
              <a:clrTo>
                <a:srgbClr val="00326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1" y="30164"/>
            <a:ext cx="867833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13"/>
          <p:cNvSpPr txBox="1">
            <a:spLocks noChangeArrowheads="1"/>
          </p:cNvSpPr>
          <p:nvPr/>
        </p:nvSpPr>
        <p:spPr bwMode="auto">
          <a:xfrm>
            <a:off x="10990103" y="6629401"/>
            <a:ext cx="92397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45720" rIns="4572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800" dirty="0">
              <a:solidFill>
                <a:srgbClr val="023467"/>
              </a:solidFill>
              <a:latin typeface="Verdana" pitchFamily="34" charset="0"/>
            </a:endParaRP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283200" y="6524625"/>
            <a:ext cx="1524000" cy="2286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fld id="{45862AFC-C195-46EB-B0FA-2127F7599B56}" type="slidenum">
              <a:rPr lang="en-US">
                <a:solidFill>
                  <a:srgbClr val="000000"/>
                </a:solidFill>
              </a:rPr>
              <a:pPr algn="ctr"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523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ransition/>
  <p:hf hdr="0" ftr="0" dt="0"/>
  <p:txStyles>
    <p:titleStyle>
      <a:lvl1pPr algn="l" rtl="0" eaLnBrk="0" fontAlgn="base" hangingPunct="0">
        <a:spcBef>
          <a:spcPct val="20000"/>
        </a:spcBef>
        <a:spcAft>
          <a:spcPct val="0"/>
        </a:spcAft>
        <a:tabLst>
          <a:tab pos="915988" algn="l"/>
        </a:tabLst>
        <a:defRPr sz="25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20000"/>
        </a:spcBef>
        <a:spcAft>
          <a:spcPct val="0"/>
        </a:spcAft>
        <a:tabLst>
          <a:tab pos="915988" algn="l"/>
        </a:tabLst>
        <a:defRPr sz="25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20000"/>
        </a:spcBef>
        <a:spcAft>
          <a:spcPct val="0"/>
        </a:spcAft>
        <a:tabLst>
          <a:tab pos="915988" algn="l"/>
        </a:tabLst>
        <a:defRPr sz="25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20000"/>
        </a:spcBef>
        <a:spcAft>
          <a:spcPct val="0"/>
        </a:spcAft>
        <a:tabLst>
          <a:tab pos="915988" algn="l"/>
        </a:tabLst>
        <a:defRPr sz="25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20000"/>
        </a:spcBef>
        <a:spcAft>
          <a:spcPct val="0"/>
        </a:spcAft>
        <a:tabLst>
          <a:tab pos="915988" algn="l"/>
        </a:tabLst>
        <a:defRPr sz="2500" b="1">
          <a:solidFill>
            <a:schemeClr val="bg1"/>
          </a:solidFill>
          <a:latin typeface="Arial" charset="0"/>
        </a:defRPr>
      </a:lvl5pPr>
      <a:lvl6pPr marL="457200" algn="l" rtl="0" eaLnBrk="0" fontAlgn="base" hangingPunct="0">
        <a:spcBef>
          <a:spcPct val="20000"/>
        </a:spcBef>
        <a:spcAft>
          <a:spcPct val="0"/>
        </a:spcAft>
        <a:tabLst>
          <a:tab pos="915988" algn="l"/>
        </a:tabLst>
        <a:defRPr sz="2500"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20000"/>
        </a:spcBef>
        <a:spcAft>
          <a:spcPct val="0"/>
        </a:spcAft>
        <a:tabLst>
          <a:tab pos="915988" algn="l"/>
        </a:tabLst>
        <a:defRPr sz="2500"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20000"/>
        </a:spcBef>
        <a:spcAft>
          <a:spcPct val="0"/>
        </a:spcAft>
        <a:tabLst>
          <a:tab pos="915988" algn="l"/>
        </a:tabLst>
        <a:defRPr sz="2500"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20000"/>
        </a:spcBef>
        <a:spcAft>
          <a:spcPct val="0"/>
        </a:spcAft>
        <a:tabLst>
          <a:tab pos="915988" algn="l"/>
        </a:tabLst>
        <a:defRPr sz="25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rgbClr val="CC0033"/>
        </a:buClr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282575" indent="-168275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rgbClr val="CC0033"/>
        </a:buClr>
        <a:buChar char="•"/>
        <a:defRPr sz="1200">
          <a:solidFill>
            <a:schemeClr val="tx1"/>
          </a:solidFill>
          <a:latin typeface="+mn-lt"/>
        </a:defRPr>
      </a:lvl2pPr>
      <a:lvl3pPr marL="566738" indent="-169863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rgbClr val="CC0033"/>
        </a:buClr>
        <a:buChar char="•"/>
        <a:defRPr sz="1200">
          <a:solidFill>
            <a:schemeClr val="tx1"/>
          </a:solidFill>
          <a:latin typeface="+mn-lt"/>
        </a:defRPr>
      </a:lvl3pPr>
      <a:lvl4pPr marL="914400" indent="-233363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rgbClr val="CC0033"/>
        </a:buClr>
        <a:buChar char="–"/>
        <a:defRPr sz="1000">
          <a:solidFill>
            <a:schemeClr val="tx1"/>
          </a:solidFill>
          <a:latin typeface="+mn-lt"/>
        </a:defRPr>
      </a:lvl4pPr>
      <a:lvl5pPr marL="1262063" indent="-233363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rgbClr val="CC0033"/>
        </a:buClr>
        <a:buChar char="–"/>
        <a:defRPr sz="1000">
          <a:solidFill>
            <a:schemeClr val="tx1"/>
          </a:solidFill>
          <a:latin typeface="+mn-lt"/>
        </a:defRPr>
      </a:lvl5pPr>
      <a:lvl6pPr marL="1719263" indent="-233363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rgbClr val="CC0033"/>
        </a:buClr>
        <a:buChar char="–"/>
        <a:defRPr sz="1000">
          <a:solidFill>
            <a:schemeClr val="tx1"/>
          </a:solidFill>
          <a:latin typeface="+mn-lt"/>
        </a:defRPr>
      </a:lvl6pPr>
      <a:lvl7pPr marL="2176463" indent="-233363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rgbClr val="CC0033"/>
        </a:buClr>
        <a:buChar char="–"/>
        <a:defRPr sz="1000">
          <a:solidFill>
            <a:schemeClr val="tx1"/>
          </a:solidFill>
          <a:latin typeface="+mn-lt"/>
        </a:defRPr>
      </a:lvl7pPr>
      <a:lvl8pPr marL="2633663" indent="-233363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rgbClr val="CC0033"/>
        </a:buClr>
        <a:buChar char="–"/>
        <a:defRPr sz="1000">
          <a:solidFill>
            <a:schemeClr val="tx1"/>
          </a:solidFill>
          <a:latin typeface="+mn-lt"/>
        </a:defRPr>
      </a:lvl8pPr>
      <a:lvl9pPr marL="3090863" indent="-233363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rgbClr val="CC0033"/>
        </a:buClr>
        <a:buChar char="–"/>
        <a:defRPr sz="1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895725" y="3238499"/>
            <a:ext cx="6781800" cy="1095376"/>
          </a:xfrm>
        </p:spPr>
        <p:txBody>
          <a:bodyPr>
            <a:noAutofit/>
          </a:bodyPr>
          <a:lstStyle/>
          <a:p>
            <a:pPr marL="0" indent="0" algn="ctr"/>
            <a:r>
              <a:rPr lang="en-US" altLang="en-US" sz="2800" b="1" dirty="0"/>
              <a:t>DQ Informatica</a:t>
            </a:r>
          </a:p>
          <a:p>
            <a:pPr marL="0" indent="0" algn="ctr"/>
            <a:r>
              <a:rPr lang="en-US" altLang="en-US" sz="2800" b="1" dirty="0"/>
              <a:t>Technical Review</a:t>
            </a:r>
          </a:p>
          <a:p>
            <a:pPr marL="0" indent="0" algn="ctr"/>
            <a:r>
              <a:rPr lang="en-US" altLang="en-US" sz="1600" b="1" dirty="0"/>
              <a:t>Last Updated: </a:t>
            </a:r>
            <a:fld id="{12A7CC35-FC2F-43D1-99F2-71A341F9B495}" type="datetime4">
              <a:rPr lang="en-US" altLang="en-US" sz="1600" b="1"/>
              <a:pPr marL="0" indent="0" algn="ctr"/>
              <a:t>January 29, 2021</a:t>
            </a:fld>
            <a:endParaRPr lang="en-US" altLang="en-US" sz="2800" b="1" dirty="0"/>
          </a:p>
          <a:p>
            <a:pPr marL="0" indent="0" algn="ctr"/>
            <a:r>
              <a:rPr lang="en-US" altLang="en-US" sz="2800" b="1" dirty="0"/>
              <a:t> 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81401" y="6019800"/>
            <a:ext cx="663632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rgbClr val="CC0033"/>
              </a:buClr>
              <a:defRPr sz="1800">
                <a:solidFill>
                  <a:srgbClr val="003366"/>
                </a:solidFill>
                <a:latin typeface="+mn-lt"/>
                <a:ea typeface="+mn-ea"/>
                <a:cs typeface="+mn-cs"/>
              </a:defRPr>
            </a:lvl1pPr>
            <a:lvl2pPr marL="282575" indent="-168275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rgbClr val="CC0033"/>
              </a:buClr>
              <a:buChar char="•"/>
              <a:defRPr sz="1200">
                <a:solidFill>
                  <a:schemeClr val="tx1"/>
                </a:solidFill>
                <a:latin typeface="+mn-lt"/>
              </a:defRPr>
            </a:lvl2pPr>
            <a:lvl3pPr marL="566738" indent="-169863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rgbClr val="CC0033"/>
              </a:buClr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914400" indent="-233363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rgbClr val="CC0033"/>
              </a:buClr>
              <a:buChar char="–"/>
              <a:defRPr sz="1000">
                <a:solidFill>
                  <a:schemeClr val="tx1"/>
                </a:solidFill>
                <a:latin typeface="+mn-lt"/>
              </a:defRPr>
            </a:lvl4pPr>
            <a:lvl5pPr marL="1262063" indent="-233363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rgbClr val="CC0033"/>
              </a:buClr>
              <a:buChar char="–"/>
              <a:defRPr sz="1000">
                <a:solidFill>
                  <a:schemeClr val="tx1"/>
                </a:solidFill>
                <a:latin typeface="+mn-lt"/>
              </a:defRPr>
            </a:lvl5pPr>
            <a:lvl6pPr marL="1719263" indent="-233363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rgbClr val="CC0033"/>
              </a:buClr>
              <a:buChar char="–"/>
              <a:defRPr sz="1000">
                <a:solidFill>
                  <a:schemeClr val="tx1"/>
                </a:solidFill>
                <a:latin typeface="+mn-lt"/>
              </a:defRPr>
            </a:lvl6pPr>
            <a:lvl7pPr marL="2176463" indent="-233363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rgbClr val="CC0033"/>
              </a:buClr>
              <a:buChar char="–"/>
              <a:defRPr sz="1000">
                <a:solidFill>
                  <a:schemeClr val="tx1"/>
                </a:solidFill>
                <a:latin typeface="+mn-lt"/>
              </a:defRPr>
            </a:lvl7pPr>
            <a:lvl8pPr marL="2633663" indent="-233363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rgbClr val="CC0033"/>
              </a:buClr>
              <a:buChar char="–"/>
              <a:defRPr sz="1000">
                <a:solidFill>
                  <a:schemeClr val="tx1"/>
                </a:solidFill>
                <a:latin typeface="+mn-lt"/>
              </a:defRPr>
            </a:lvl8pPr>
            <a:lvl9pPr marL="3090863" indent="-233363" algn="l" rtl="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rgbClr val="CC0033"/>
              </a:buClr>
              <a:buChar char="–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/>
            <a:endParaRPr lang="en-US" altLang="en-US" sz="1600" b="1" kern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77932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C066795-5329-490D-9CA9-569B60CB1FE4}" type="slidenum">
              <a:rPr lang="en-US" sz="1000">
                <a:solidFill>
                  <a:srgbClr val="000000"/>
                </a:solidFill>
                <a:latin typeface="Arial"/>
              </a:rPr>
              <a:pPr/>
              <a:t>2</a:t>
            </a:fld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>
                <a:solidFill>
                  <a:srgbClr val="FFFFFF"/>
                </a:solidFill>
                <a:latin typeface="Arial"/>
                <a:ea typeface="+mn-ea"/>
                <a:cs typeface="+mn-cs"/>
              </a:rPr>
              <a:t>Agenda</a:t>
            </a:r>
            <a:endParaRPr lang="en-US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75437-1157-4EAC-BFAB-72E5EFF3991A}"/>
              </a:ext>
            </a:extLst>
          </p:cNvPr>
          <p:cNvSpPr/>
          <p:nvPr/>
        </p:nvSpPr>
        <p:spPr>
          <a:xfrm>
            <a:off x="3048000" y="269033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Agenda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Informatica Tools review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Data Anomaly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Data Scorecard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Linux framework</a:t>
            </a:r>
          </a:p>
        </p:txBody>
      </p:sp>
    </p:spTree>
    <p:extLst>
      <p:ext uri="{BB962C8B-B14F-4D97-AF65-F5344CB8AC3E}">
        <p14:creationId xmlns:p14="http://schemas.microsoft.com/office/powerpoint/2010/main" val="121254688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IDQ Project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75437-1157-4EAC-BFAB-72E5EFF3991A}"/>
              </a:ext>
            </a:extLst>
          </p:cNvPr>
          <p:cNvSpPr/>
          <p:nvPr/>
        </p:nvSpPr>
        <p:spPr>
          <a:xfrm>
            <a:off x="4053689" y="2905780"/>
            <a:ext cx="72537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Informatica Tools</a:t>
            </a:r>
          </a:p>
        </p:txBody>
      </p:sp>
    </p:spTree>
    <p:extLst>
      <p:ext uri="{BB962C8B-B14F-4D97-AF65-F5344CB8AC3E}">
        <p14:creationId xmlns:p14="http://schemas.microsoft.com/office/powerpoint/2010/main" val="40181351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Anomaly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DD58D8-CA1C-48C2-8FD2-A3FDB005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296" y="95251"/>
            <a:ext cx="94297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5912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C066795-5329-490D-9CA9-569B60CB1FE4}" type="slidenum">
              <a:rPr lang="en-US" sz="1000">
                <a:solidFill>
                  <a:srgbClr val="000000"/>
                </a:solidFill>
                <a:latin typeface="Arial"/>
              </a:rPr>
              <a:pPr/>
              <a:t>5</a:t>
            </a:fld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>
                <a:solidFill>
                  <a:srgbClr val="FFFFFF"/>
                </a:solidFill>
                <a:latin typeface="Arial"/>
                <a:ea typeface="+mn-ea"/>
                <a:cs typeface="+mn-cs"/>
              </a:rPr>
              <a:t>Agenda</a:t>
            </a:r>
            <a:endParaRPr lang="en-US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75437-1157-4EAC-BFAB-72E5EFF3991A}"/>
              </a:ext>
            </a:extLst>
          </p:cNvPr>
          <p:cNvSpPr/>
          <p:nvPr/>
        </p:nvSpPr>
        <p:spPr>
          <a:xfrm>
            <a:off x="3048000" y="2690336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Tools review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91440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Power Exchange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PowerCenter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Admin Console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Developer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Analyst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Big Data vs Native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Informatica Intelligent Cloud Services IICS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Data Engineering</a:t>
            </a:r>
          </a:p>
        </p:txBody>
      </p:sp>
    </p:spTree>
    <p:extLst>
      <p:ext uri="{BB962C8B-B14F-4D97-AF65-F5344CB8AC3E}">
        <p14:creationId xmlns:p14="http://schemas.microsoft.com/office/powerpoint/2010/main" val="265424395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FB754-C440-4638-9E66-9A46C659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 Data Quality Suite Project Timelines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8186D0-A8E8-4D66-B586-941AC7E3792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682772" y="1021627"/>
          <a:ext cx="8961126" cy="2953297"/>
        </p:xfrm>
        <a:graphic>
          <a:graphicData uri="http://schemas.openxmlformats.org/drawingml/2006/table">
            <a:tbl>
              <a:tblPr/>
              <a:tblGrid>
                <a:gridCol w="839665">
                  <a:extLst>
                    <a:ext uri="{9D8B030D-6E8A-4147-A177-3AD203B41FA5}">
                      <a16:colId xmlns:a16="http://schemas.microsoft.com/office/drawing/2014/main" val="1703985170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166581430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2250315751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1662846871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2631915760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1796911532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2774713834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3608722635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1102593220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2819907897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810883216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709802859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3035999020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1162674937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2908174630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39459510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4055967943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84007261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1593164707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3713503676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2411217882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3689479393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824188722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2643762865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1232934576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3676473101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3075602677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310689891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3628876039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4192300305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154020501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2130786683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4112872220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234784705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2584734495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3472669330"/>
                    </a:ext>
                  </a:extLst>
                </a:gridCol>
                <a:gridCol w="224677">
                  <a:extLst>
                    <a:ext uri="{9D8B030D-6E8A-4147-A177-3AD203B41FA5}">
                      <a16:colId xmlns:a16="http://schemas.microsoft.com/office/drawing/2014/main" val="1700172818"/>
                    </a:ext>
                  </a:extLst>
                </a:gridCol>
                <a:gridCol w="33089">
                  <a:extLst>
                    <a:ext uri="{9D8B030D-6E8A-4147-A177-3AD203B41FA5}">
                      <a16:colId xmlns:a16="http://schemas.microsoft.com/office/drawing/2014/main" val="3974264360"/>
                    </a:ext>
                  </a:extLst>
                </a:gridCol>
              </a:tblGrid>
              <a:tr h="247471"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sz="1050" b="1" u="none" strike="noStrike">
                          <a:effectLst/>
                        </a:rPr>
                        <a:t>Workstreams/ Activities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ctr"/>
                </a:tc>
                <a:tc gridSpan="12"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 marL="0" marR="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gridSpan="12"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2021</a:t>
                      </a: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</a:t>
                      </a:r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07053811"/>
                  </a:ext>
                </a:extLst>
              </a:tr>
              <a:tr h="434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Jan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Feb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April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June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July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Aug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Sept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Oct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Nov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Dec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Jan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Feb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April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June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July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Aug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Sept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Oct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Nov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Dec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Jan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Feb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Apr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Jun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Jul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Aug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Sep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Oct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Nov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Dec</a:t>
                      </a:r>
                    </a:p>
                  </a:txBody>
                  <a:tcPr marL="0" marR="0" marT="0" marB="0" vert="vert27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560187"/>
                  </a:ext>
                </a:extLst>
              </a:tr>
              <a:tr h="564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u="none" strike="noStrike" dirty="0">
                          <a:effectLst/>
                        </a:rPr>
                        <a:t>Data Anomaly</a:t>
                      </a:r>
                      <a:endParaRPr lang="en-US" sz="105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462366"/>
                  </a:ext>
                </a:extLst>
              </a:tr>
              <a:tr h="564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Mastering Provider Entity</a:t>
                      </a:r>
                    </a:p>
                  </a:txBody>
                  <a:tcPr marL="45720" marR="4572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360444"/>
                  </a:ext>
                </a:extLst>
              </a:tr>
              <a:tr h="564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Encounter Scorecard Automation</a:t>
                      </a:r>
                    </a:p>
                  </a:txBody>
                  <a:tcPr marL="45720" marR="4572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164218"/>
                  </a:ext>
                </a:extLst>
              </a:tr>
              <a:tr h="564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837 Encounters</a:t>
                      </a:r>
                    </a:p>
                  </a:txBody>
                  <a:tcPr marL="45720" marR="457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39648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45CAF26-AFD0-499D-B221-16E0CB602BBF}"/>
              </a:ext>
            </a:extLst>
          </p:cNvPr>
          <p:cNvSpPr/>
          <p:nvPr/>
        </p:nvSpPr>
        <p:spPr>
          <a:xfrm>
            <a:off x="4316245" y="902307"/>
            <a:ext cx="226988" cy="319193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000000"/>
              </a:solidFill>
              <a:latin typeface="Arial"/>
              <a:sym typeface="Arial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DFE6461-175F-47F9-8423-E67A186168B3}"/>
              </a:ext>
            </a:extLst>
          </p:cNvPr>
          <p:cNvSpPr/>
          <p:nvPr/>
        </p:nvSpPr>
        <p:spPr>
          <a:xfrm>
            <a:off x="3039817" y="1750915"/>
            <a:ext cx="4406812" cy="4572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5" name="Star: 7 Points 4">
            <a:extLst>
              <a:ext uri="{FF2B5EF4-FFF2-40B4-BE49-F238E27FC236}">
                <a16:creationId xmlns:a16="http://schemas.microsoft.com/office/drawing/2014/main" id="{9D184AAD-A333-47D8-8248-F2419EEEE8CB}"/>
              </a:ext>
            </a:extLst>
          </p:cNvPr>
          <p:cNvSpPr/>
          <p:nvPr/>
        </p:nvSpPr>
        <p:spPr>
          <a:xfrm>
            <a:off x="4743194" y="1848396"/>
            <a:ext cx="274320" cy="274320"/>
          </a:xfrm>
          <a:prstGeom prst="star7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6" name="Star: 7 Points 15">
            <a:extLst>
              <a:ext uri="{FF2B5EF4-FFF2-40B4-BE49-F238E27FC236}">
                <a16:creationId xmlns:a16="http://schemas.microsoft.com/office/drawing/2014/main" id="{9E79CAE2-5147-46DA-A76F-2E000BC088B2}"/>
              </a:ext>
            </a:extLst>
          </p:cNvPr>
          <p:cNvSpPr/>
          <p:nvPr/>
        </p:nvSpPr>
        <p:spPr>
          <a:xfrm>
            <a:off x="5195455" y="1848396"/>
            <a:ext cx="274320" cy="274320"/>
          </a:xfrm>
          <a:prstGeom prst="star7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8" name="Star: 7 Points 17">
            <a:extLst>
              <a:ext uri="{FF2B5EF4-FFF2-40B4-BE49-F238E27FC236}">
                <a16:creationId xmlns:a16="http://schemas.microsoft.com/office/drawing/2014/main" id="{01B77992-0D57-434E-A207-6291905CB38D}"/>
              </a:ext>
            </a:extLst>
          </p:cNvPr>
          <p:cNvSpPr/>
          <p:nvPr/>
        </p:nvSpPr>
        <p:spPr>
          <a:xfrm>
            <a:off x="6081168" y="1848396"/>
            <a:ext cx="274320" cy="274320"/>
          </a:xfrm>
          <a:prstGeom prst="star7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827BDC6D-610E-47BF-85DF-60FBC6AB5E19}"/>
              </a:ext>
            </a:extLst>
          </p:cNvPr>
          <p:cNvSpPr/>
          <p:nvPr/>
        </p:nvSpPr>
        <p:spPr>
          <a:xfrm>
            <a:off x="3039817" y="2311637"/>
            <a:ext cx="995109" cy="457200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EEFC638F-B654-49C2-9D0E-096AA4352FD1}"/>
              </a:ext>
            </a:extLst>
          </p:cNvPr>
          <p:cNvSpPr/>
          <p:nvPr/>
        </p:nvSpPr>
        <p:spPr>
          <a:xfrm>
            <a:off x="4116199" y="2311637"/>
            <a:ext cx="1275771" cy="457200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DD79F266-342C-4A34-931D-DEFDD33DA6F9}"/>
              </a:ext>
            </a:extLst>
          </p:cNvPr>
          <p:cNvSpPr/>
          <p:nvPr/>
        </p:nvSpPr>
        <p:spPr>
          <a:xfrm>
            <a:off x="3018310" y="2888923"/>
            <a:ext cx="3337179" cy="45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9" name="Star: 7 Points 28">
            <a:extLst>
              <a:ext uri="{FF2B5EF4-FFF2-40B4-BE49-F238E27FC236}">
                <a16:creationId xmlns:a16="http://schemas.microsoft.com/office/drawing/2014/main" id="{ECFA54CD-C551-4759-878E-591967D7E3CA}"/>
              </a:ext>
            </a:extLst>
          </p:cNvPr>
          <p:cNvSpPr/>
          <p:nvPr/>
        </p:nvSpPr>
        <p:spPr>
          <a:xfrm>
            <a:off x="5849558" y="2980363"/>
            <a:ext cx="274320" cy="274320"/>
          </a:xfrm>
          <a:prstGeom prst="star7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0" name="Star: 7 Points 29">
            <a:extLst>
              <a:ext uri="{FF2B5EF4-FFF2-40B4-BE49-F238E27FC236}">
                <a16:creationId xmlns:a16="http://schemas.microsoft.com/office/drawing/2014/main" id="{0AC62BB3-E39F-424C-94B9-91F520946F00}"/>
              </a:ext>
            </a:extLst>
          </p:cNvPr>
          <p:cNvSpPr/>
          <p:nvPr/>
        </p:nvSpPr>
        <p:spPr>
          <a:xfrm>
            <a:off x="3605339" y="2398061"/>
            <a:ext cx="274320" cy="274320"/>
          </a:xfrm>
          <a:prstGeom prst="star7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2" name="Star: 7 Points 31">
            <a:extLst>
              <a:ext uri="{FF2B5EF4-FFF2-40B4-BE49-F238E27FC236}">
                <a16:creationId xmlns:a16="http://schemas.microsoft.com/office/drawing/2014/main" id="{AEF42BEC-8A3A-4EFD-A3D0-D52E61DE72A1}"/>
              </a:ext>
            </a:extLst>
          </p:cNvPr>
          <p:cNvSpPr/>
          <p:nvPr/>
        </p:nvSpPr>
        <p:spPr>
          <a:xfrm>
            <a:off x="4958149" y="2398061"/>
            <a:ext cx="274320" cy="274320"/>
          </a:xfrm>
          <a:prstGeom prst="star7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3" name="Star: 7 Points 32">
            <a:extLst>
              <a:ext uri="{FF2B5EF4-FFF2-40B4-BE49-F238E27FC236}">
                <a16:creationId xmlns:a16="http://schemas.microsoft.com/office/drawing/2014/main" id="{335E27F5-A0A6-467C-8876-9232257A9BFB}"/>
              </a:ext>
            </a:extLst>
          </p:cNvPr>
          <p:cNvSpPr/>
          <p:nvPr/>
        </p:nvSpPr>
        <p:spPr>
          <a:xfrm>
            <a:off x="5634374" y="1841682"/>
            <a:ext cx="274320" cy="274320"/>
          </a:xfrm>
          <a:prstGeom prst="star7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BADE834B-1A64-456A-9EEE-779FB8E2F039}"/>
              </a:ext>
            </a:extLst>
          </p:cNvPr>
          <p:cNvSpPr/>
          <p:nvPr/>
        </p:nvSpPr>
        <p:spPr>
          <a:xfrm>
            <a:off x="6384350" y="2888923"/>
            <a:ext cx="3337179" cy="4572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5" name="Star: 7 Points 34">
            <a:extLst>
              <a:ext uri="{FF2B5EF4-FFF2-40B4-BE49-F238E27FC236}">
                <a16:creationId xmlns:a16="http://schemas.microsoft.com/office/drawing/2014/main" id="{70BB6A8C-23E6-4403-9F77-445017771857}"/>
              </a:ext>
            </a:extLst>
          </p:cNvPr>
          <p:cNvSpPr/>
          <p:nvPr/>
        </p:nvSpPr>
        <p:spPr>
          <a:xfrm>
            <a:off x="9254593" y="2980363"/>
            <a:ext cx="274320" cy="274320"/>
          </a:xfrm>
          <a:prstGeom prst="star7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6" name="Arrow: Pentagon 35">
            <a:extLst>
              <a:ext uri="{FF2B5EF4-FFF2-40B4-BE49-F238E27FC236}">
                <a16:creationId xmlns:a16="http://schemas.microsoft.com/office/drawing/2014/main" id="{C59FEC82-FE04-4D81-B1BB-F9BF64C560FB}"/>
              </a:ext>
            </a:extLst>
          </p:cNvPr>
          <p:cNvSpPr/>
          <p:nvPr/>
        </p:nvSpPr>
        <p:spPr>
          <a:xfrm>
            <a:off x="3664026" y="3467791"/>
            <a:ext cx="6979873" cy="45720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7" name="Star: 7 Points 36">
            <a:extLst>
              <a:ext uri="{FF2B5EF4-FFF2-40B4-BE49-F238E27FC236}">
                <a16:creationId xmlns:a16="http://schemas.microsoft.com/office/drawing/2014/main" id="{E7F8C191-9DBC-43A2-B120-5187CF428750}"/>
              </a:ext>
            </a:extLst>
          </p:cNvPr>
          <p:cNvSpPr/>
          <p:nvPr/>
        </p:nvSpPr>
        <p:spPr>
          <a:xfrm>
            <a:off x="10136835" y="3559231"/>
            <a:ext cx="274320" cy="274320"/>
          </a:xfrm>
          <a:prstGeom prst="star7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1400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1790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IDQ Project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75437-1157-4EAC-BFAB-72E5EFF3991A}"/>
              </a:ext>
            </a:extLst>
          </p:cNvPr>
          <p:cNvSpPr/>
          <p:nvPr/>
        </p:nvSpPr>
        <p:spPr>
          <a:xfrm>
            <a:off x="4053689" y="2905780"/>
            <a:ext cx="72537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Anomaly</a:t>
            </a:r>
          </a:p>
        </p:txBody>
      </p:sp>
    </p:spTree>
    <p:extLst>
      <p:ext uri="{BB962C8B-B14F-4D97-AF65-F5344CB8AC3E}">
        <p14:creationId xmlns:p14="http://schemas.microsoft.com/office/powerpoint/2010/main" val="216763166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Anomaly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709A3-7012-445F-942A-9DF1D065A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52" y="1752600"/>
            <a:ext cx="8463559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831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Parameters via param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EA98C-76EC-4814-8651-B63A22190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712" y="1895475"/>
            <a:ext cx="764857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9849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Parameters via XML - DA_PARAMETERS.xml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7E2B74-924B-40A3-A938-C39B8FD0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5" y="1504950"/>
            <a:ext cx="85534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2080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Load Batch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2DF92-81BD-44C5-8E01-32E98C62D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2" y="2286000"/>
            <a:ext cx="107346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0079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Data Anomaly extracting Encounter to base Staging 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53B44A-0BEF-410F-9760-B0C7E4E9C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16" y="729391"/>
            <a:ext cx="11119536" cy="588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4358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Data Anomaly generating Metrics from Extract Staging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0A37D7-85D6-4B24-AA2C-BD8A11B8F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46" y="850296"/>
            <a:ext cx="11090494" cy="576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0952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Data Anomaly Views using similar naming as NW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837206-2D39-45EE-A735-60A62ECB8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42" y="699618"/>
            <a:ext cx="9692388" cy="583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6714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Data Anomaly Data Module showing additional Metrics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C66AE-AABC-4584-A3CF-A45A47348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2" y="1191137"/>
            <a:ext cx="11700344" cy="476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0680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Cognos Report for Data Anomaly Showing STDDEV Bands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02F870-7DA6-49AD-AA8E-AB9C1FC24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584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48080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Cognos Report for Data Anomaly with Metric Selection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9A43E0-6916-4776-B868-1CFA9D562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9974"/>
            <a:ext cx="12192000" cy="509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82086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IDQ Project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75437-1157-4EAC-BFAB-72E5EFF3991A}"/>
              </a:ext>
            </a:extLst>
          </p:cNvPr>
          <p:cNvSpPr/>
          <p:nvPr/>
        </p:nvSpPr>
        <p:spPr>
          <a:xfrm>
            <a:off x="4053689" y="2905780"/>
            <a:ext cx="72537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</a:rPr>
              <a:t>Scorecards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69820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Scorecard Dynamic SQL   SAS Pivot via Oracle Unpivot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BA971D-FAB8-4234-B38B-05EAAB7CD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47" y="842978"/>
            <a:ext cx="10694416" cy="569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8447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Scorecard Rule Specifications in Analyst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349C5B-6A5F-409F-B930-C2CE70211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55" y="765776"/>
            <a:ext cx="8341846" cy="603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464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Scorecard From Service Date Numerator as Rule Specification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B0DAEF-F9ED-4B30-BB20-DD51253D1F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293" y="748491"/>
            <a:ext cx="7846091" cy="595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9746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Scorecard From Service Date Numerator as Mapplet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66755C-B924-455A-8CEC-D16AB401F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91" y="1342301"/>
            <a:ext cx="11892217" cy="403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6040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Scorecard ALL Claim Types Mapping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BB68C-B838-4F21-906A-3436A1EF8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805" y="950976"/>
            <a:ext cx="6434474" cy="582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2130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Scorecard Mapplet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6009F-BB97-49AF-9A01-86771C644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69" y="1602462"/>
            <a:ext cx="11699092" cy="365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2871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Informatica Administrator Console showing Deployed Applications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F6856D-1C86-4D85-AC58-9CC64B25D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471" y="693587"/>
            <a:ext cx="7895021" cy="60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370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IDQ Project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75437-1157-4EAC-BFAB-72E5EFF3991A}"/>
              </a:ext>
            </a:extLst>
          </p:cNvPr>
          <p:cNvSpPr/>
          <p:nvPr/>
        </p:nvSpPr>
        <p:spPr>
          <a:xfrm>
            <a:off x="4053689" y="2905780"/>
            <a:ext cx="72537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</a:rPr>
              <a:t>Linux Framework and Scheduling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326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Linux IDQ Infrastructure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5696E0-BD87-4575-AF8D-81A6AF646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054" y="795683"/>
            <a:ext cx="6159570" cy="573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7259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Parameters via param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EA98C-76EC-4814-8651-B63A22190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712" y="1895475"/>
            <a:ext cx="764857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9341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Parameters via XML - DA_PARAMETERS.xml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7E2B74-924B-40A3-A938-C39B8FD0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5" y="1504950"/>
            <a:ext cx="85534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2029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066795-5329-490D-9CA9-569B60CB1FE4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/>
              <a:t>Load Batch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2DF92-81BD-44C5-8E01-32E98C62D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2" y="2286000"/>
            <a:ext cx="107346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3825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C066795-5329-490D-9CA9-569B60CB1FE4}" type="slidenum">
              <a:rPr lang="en-US" sz="1000">
                <a:solidFill>
                  <a:srgbClr val="000000"/>
                </a:solidFill>
                <a:latin typeface="Arial"/>
              </a:rPr>
              <a:pPr/>
              <a:t>31</a:t>
            </a:fld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>
                <a:solidFill>
                  <a:srgbClr val="FFFFFF"/>
                </a:solidFill>
                <a:latin typeface="Arial"/>
                <a:ea typeface="+mn-ea"/>
                <a:cs typeface="+mn-cs"/>
              </a:rPr>
              <a:t>DW Informatica Framework</a:t>
            </a:r>
            <a:endParaRPr lang="en-US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75437-1157-4EAC-BFAB-72E5EFF3991A}"/>
              </a:ext>
            </a:extLst>
          </p:cNvPr>
          <p:cNvSpPr/>
          <p:nvPr/>
        </p:nvSpPr>
        <p:spPr>
          <a:xfrm>
            <a:off x="3048000" y="269033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DW Informatica Framework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runDQ_ANOMALY.sh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DQ_ANOMALY.sh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applications.sh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functions.sh</a:t>
            </a:r>
          </a:p>
          <a:p>
            <a:pPr marL="914400" lvl="0" indent="-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dirty="0">
                <a:solidFill>
                  <a:srgbClr val="000000"/>
                </a:solidFill>
              </a:rPr>
              <a:t>SQL scripts</a:t>
            </a:r>
          </a:p>
        </p:txBody>
      </p:sp>
    </p:spTree>
    <p:extLst>
      <p:ext uri="{BB962C8B-B14F-4D97-AF65-F5344CB8AC3E}">
        <p14:creationId xmlns:p14="http://schemas.microsoft.com/office/powerpoint/2010/main" val="18385068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210801" y="6535580"/>
            <a:ext cx="4719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C066795-5329-490D-9CA9-569B60CB1FE4}" type="slidenum">
              <a:rPr lang="en-US" sz="1000">
                <a:solidFill>
                  <a:srgbClr val="000000"/>
                </a:solidFill>
                <a:latin typeface="Arial"/>
              </a:rPr>
              <a:pPr/>
              <a:t>32</a:t>
            </a:fld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133601" y="152400"/>
            <a:ext cx="8461375" cy="442912"/>
          </a:xfrm>
        </p:spPr>
        <p:txBody>
          <a:bodyPr/>
          <a:lstStyle/>
          <a:p>
            <a:pPr eaLnBrk="1" hangingPunct="1"/>
            <a:r>
              <a:rPr lang="en-US" sz="1800" dirty="0">
                <a:solidFill>
                  <a:srgbClr val="FFFFFF"/>
                </a:solidFill>
                <a:latin typeface="Arial"/>
                <a:ea typeface="+mn-ea"/>
                <a:cs typeface="+mn-cs"/>
              </a:rPr>
              <a:t>Thank You</a:t>
            </a:r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9BB2B-6F97-4AC5-B754-121FC59C2FB7}"/>
              </a:ext>
            </a:extLst>
          </p:cNvPr>
          <p:cNvSpPr txBox="1"/>
          <p:nvPr/>
        </p:nvSpPr>
        <p:spPr>
          <a:xfrm>
            <a:off x="3473512" y="3103780"/>
            <a:ext cx="4846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87924550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MH Theme - Preliminary Draft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0C0C0"/>
      </a:accent1>
      <a:accent2>
        <a:srgbClr val="4FB94F"/>
      </a:accent2>
      <a:accent3>
        <a:srgbClr val="1D954F"/>
      </a:accent3>
      <a:accent4>
        <a:srgbClr val="5E8BFF"/>
      </a:accent4>
      <a:accent5>
        <a:srgbClr val="FFCD33"/>
      </a:accent5>
      <a:accent6>
        <a:srgbClr val="808080"/>
      </a:accent6>
      <a:hlink>
        <a:srgbClr val="1D954F"/>
      </a:hlink>
      <a:folHlink>
        <a:srgbClr val="5E8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 Presentation Template - MA HHS - small logos">
  <a:themeElements>
    <a:clrScheme name="">
      <a:dk1>
        <a:srgbClr val="000000"/>
      </a:dk1>
      <a:lt1>
        <a:srgbClr val="FFFFFF"/>
      </a:lt1>
      <a:dk2>
        <a:srgbClr val="003366"/>
      </a:dk2>
      <a:lt2>
        <a:srgbClr val="B4B4B4"/>
      </a:lt2>
      <a:accent1>
        <a:srgbClr val="FFFFCC"/>
      </a:accent1>
      <a:accent2>
        <a:srgbClr val="003399"/>
      </a:accent2>
      <a:accent3>
        <a:srgbClr val="FFFFFF"/>
      </a:accent3>
      <a:accent4>
        <a:srgbClr val="000000"/>
      </a:accent4>
      <a:accent5>
        <a:srgbClr val="FFFFE2"/>
      </a:accent5>
      <a:accent6>
        <a:srgbClr val="002D8A"/>
      </a:accent6>
      <a:hlink>
        <a:srgbClr val="CCCCFF"/>
      </a:hlink>
      <a:folHlink>
        <a:srgbClr val="FFFFFF"/>
      </a:folHlink>
    </a:clrScheme>
    <a:fontScheme name="Blue Presentation Template - MA HHS - small logo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ue Presentation Template - MA HHS - small logo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Presentation Template - MA HHS - small logo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Presentation Template - MA HHS - small logo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Presentation Template - MA HHS - small logo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Presentation Template - MA HHS - small logo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Presentation Template - MA HHS - small logo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Presentation Template - MA HHS - small logo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337</Words>
  <Application>Microsoft Office PowerPoint</Application>
  <PresentationFormat>Widescreen</PresentationFormat>
  <Paragraphs>168</Paragraphs>
  <Slides>32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Courier New</vt:lpstr>
      <vt:lpstr>Noto Sans Symbols</vt:lpstr>
      <vt:lpstr>Verdana</vt:lpstr>
      <vt:lpstr>MH Theme - Preliminary Draft</vt:lpstr>
      <vt:lpstr>Blue Presentation Template - MA HHS - small logos</vt:lpstr>
      <vt:lpstr>TCLayout.ActiveDocument.1</vt:lpstr>
      <vt:lpstr>PowerPoint Presentation</vt:lpstr>
      <vt:lpstr>Agenda</vt:lpstr>
      <vt:lpstr>IDQ Project Workflow</vt:lpstr>
      <vt:lpstr>Anomaly Workflow</vt:lpstr>
      <vt:lpstr>Agenda</vt:lpstr>
      <vt:lpstr>DI Data Quality Suite Project Timelines</vt:lpstr>
      <vt:lpstr>IDQ Project Workflow</vt:lpstr>
      <vt:lpstr>Anomaly Workflow</vt:lpstr>
      <vt:lpstr>Parameters via param table</vt:lpstr>
      <vt:lpstr>Parameters via XML - DA_PARAMETERS.xml</vt:lpstr>
      <vt:lpstr>Load Batch Table</vt:lpstr>
      <vt:lpstr>Data Anomaly extracting Encounter to base Staging Table</vt:lpstr>
      <vt:lpstr>Data Anomaly generating Metrics from Extract Staging Table</vt:lpstr>
      <vt:lpstr>Data Anomaly Views using similar naming as NW</vt:lpstr>
      <vt:lpstr>Data Anomaly Data Module showing additional Metrics</vt:lpstr>
      <vt:lpstr>Cognos Report for Data Anomaly Showing STDDEV Bands</vt:lpstr>
      <vt:lpstr>Cognos Report for Data Anomaly with Metric Selection</vt:lpstr>
      <vt:lpstr>IDQ Project Workflow</vt:lpstr>
      <vt:lpstr>Scorecard Dynamic SQL   SAS Pivot via Oracle Unpivot</vt:lpstr>
      <vt:lpstr>Scorecard Rule Specifications in Analyst</vt:lpstr>
      <vt:lpstr>Scorecard From Service Date Numerator as Rule Specification</vt:lpstr>
      <vt:lpstr>Scorecard From Service Date Numerator as Mapplet</vt:lpstr>
      <vt:lpstr>Scorecard ALL Claim Types Mapping</vt:lpstr>
      <vt:lpstr>Scorecard Mapplet Workflow</vt:lpstr>
      <vt:lpstr>Informatica Administrator Console showing Deployed Applications</vt:lpstr>
      <vt:lpstr>IDQ Project Workflow</vt:lpstr>
      <vt:lpstr>Linux IDQ Infrastructure</vt:lpstr>
      <vt:lpstr>Parameters via param table</vt:lpstr>
      <vt:lpstr>Parameters via XML - DA_PARAMETERS.xml</vt:lpstr>
      <vt:lpstr>Load Batch Table</vt:lpstr>
      <vt:lpstr>DW Informatica Framework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Leger, JP (EHS)</dc:creator>
  <cp:lastModifiedBy>Leger, JP (EHS)</cp:lastModifiedBy>
  <cp:revision>57</cp:revision>
  <dcterms:created xsi:type="dcterms:W3CDTF">2020-12-16T16:20:44Z</dcterms:created>
  <dcterms:modified xsi:type="dcterms:W3CDTF">2021-01-29T18:54:15Z</dcterms:modified>
</cp:coreProperties>
</file>